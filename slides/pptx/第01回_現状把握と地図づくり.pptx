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表紙は5秒。名乗りと日程確認だけ済ませて、すぐ実演に入る。ここで講座の説明を始めない。初回は「測る回」であることを、この時点では言わなくてよい。構えられると素の使い方が見えなくなる。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調査の数字は権威付けではなく、「あなただけが遅れているのではない」と伝えるために使う。ここで安心してもらえると、このあとの実演で素の使い方を見せてもらえる。3行を読み上げず、2行目だけ話して残りは目で追っ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30秒。今日の到達点だけ言う。「教える回ではなく、拝見する回です」と明言しておくと、このあと20分黙っていても不自然にならない。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条件を先に説明しない。受講者が挙げた業務を1つ取り上げ、目の前で3条件に当てはめて見せる。自分の業務が題材になると腹に落ちる。ここで「年1回の作業を自動化するのは趣味です」と言うと、たいてい笑いが出て空気がほぐ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列の表を画面に出し、1行目を講師が埋めて見せる。2行目からは受講者に埋めてもらう。「型が決まっているか」の列で必ず手が止まるので、そこで『毎回考えているか、それとも手順があるか』と言い換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受講者が「これをAI化したい」と挙げた業務が、この失敗パターンに当てはまることが多い。否定せず、「そこは第9回で扱います。今日はもっと手前から」と回収先を示す。痛いところを選びたがるのは正しい感覚なので、感覚そのものは肯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ここで選ぶ1つが、この先12回の主役になる。急がず、受講者に選ばせる。講師が決めると、その後ずっと他人事の演習になる。決まったら「これを12回かけて仕組みにします」と宣言する。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3つとも初回で高確率で起きる。特に実演を渋られたときは、助け舟を出したくなるが待つ。沈黙が気まずくても20分待つ。手を出した瞬間に測定は終わる。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3つとも初回で高確率で出る。特に2つ目は、ここで押し切らないと講座全体が空回りする。『判断の勘所は使った人にしか分からない』を、経営者本人の経験に引き寄せて話す。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用語を覚えてもらう必要はない。配布する用語辞典に同じものが載っていることを伝えるだけでよい。ハルシネーションだけは、この回で必ず言葉にしておく。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ここから講師は口頭指示のみ。画面を操作するのは必ず受講者。棚卸しは6列すべて埋めようとせず、上位3つだけ完成させればよい。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「いつ使うか」は必ず日時まで落とす。『来週あたり』は使われない。その場でカレンダーに入れてもらう。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ここは資料を読まない。事例だけ話す。初回の手応えが2回目の出席を決める、という構造を講師が理解していれば、自然に時間配分が変わる。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次回の持ち物を、口頭とチャットの両方で伝える。3日前にもう一度送る運用を、ここで予告しておく。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宿題は口頭で確認して終わらせない。その場でスマホのカレンダーに入れてもらうところまでやる。次回の冒頭15分は、この宿題の実物から始まる。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1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現状把握と地図づくり</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どこにAIを当てるかを決める</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業務棚卸しシート／AI化する業務 上位3つ</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「AIで何かできませんか」では、何も決まりません。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中小企業がAI導入で止まる理由の第1位は、活用事例の情報不足（83.3%）</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使ってはいる。ただ、どの業務に当てるかを決めていないので成果が見えない</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だから今日は、教える前に、御社の業務を分解して当てる場所を決めます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足りないのは知識ではありません。「うちの場合はここ」という具体です。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自社のどこにAIを当てるかを、ご自身の言葉で説明できる状態にします。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今日は教える回ではありません。まず20分、普段の使い方を拝見します。そのうえで業務を棚卸しし、最後に1つだけ、その場で動かして持ち帰っていただきます。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37160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0-10分</a:t>
            </a:r>
            <a:endParaRPr lang="en-US" sz="900" dirty="0"/>
          </a:p>
        </p:txBody>
      </p:sp>
      <p:sp>
        <p:nvSpPr>
          <p:cNvPr id="8" name="Text 6"/>
          <p:cNvSpPr txBox="1"/>
          <p:nvPr/>
        </p:nvSpPr>
        <p:spPr>
          <a:xfrm>
            <a:off x="960120" y="5111496"/>
            <a:ext cx="137160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開始・枠組みの共有</a:t>
            </a:r>
            <a:endParaRPr lang="en-US" sz="1100" dirty="0"/>
          </a:p>
        </p:txBody>
      </p:sp>
      <p:sp>
        <p:nvSpPr>
          <p:cNvPr id="9" name="Text 7"/>
          <p:cNvSpPr txBox="1"/>
          <p:nvPr/>
        </p:nvSpPr>
        <p:spPr>
          <a:xfrm>
            <a:off x="2423160" y="4873752"/>
            <a:ext cx="137160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10-30分</a:t>
            </a:r>
            <a:endParaRPr lang="en-US" sz="900" dirty="0"/>
          </a:p>
        </p:txBody>
      </p:sp>
      <p:sp>
        <p:nvSpPr>
          <p:cNvPr id="10" name="Text 8"/>
          <p:cNvSpPr txBox="1"/>
          <p:nvPr/>
        </p:nvSpPr>
        <p:spPr>
          <a:xfrm>
            <a:off x="2423160" y="5111496"/>
            <a:ext cx="137160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いまの使い方を拝見</a:t>
            </a:r>
            <a:endParaRPr lang="en-US" sz="1100" dirty="0"/>
          </a:p>
        </p:txBody>
      </p:sp>
      <p:sp>
        <p:nvSpPr>
          <p:cNvPr id="11" name="Text 9"/>
          <p:cNvSpPr txBox="1"/>
          <p:nvPr/>
        </p:nvSpPr>
        <p:spPr>
          <a:xfrm>
            <a:off x="3886200" y="4873752"/>
            <a:ext cx="137160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30-45分</a:t>
            </a:r>
            <a:endParaRPr lang="en-US" sz="900" dirty="0"/>
          </a:p>
        </p:txBody>
      </p:sp>
      <p:sp>
        <p:nvSpPr>
          <p:cNvPr id="12" name="Text 10"/>
          <p:cNvSpPr txBox="1"/>
          <p:nvPr/>
        </p:nvSpPr>
        <p:spPr>
          <a:xfrm>
            <a:off x="3886200" y="5111496"/>
            <a:ext cx="137160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環境と体制の聞き取り</a:t>
            </a:r>
            <a:endParaRPr lang="en-US" sz="1100" dirty="0"/>
          </a:p>
        </p:txBody>
      </p:sp>
      <p:sp>
        <p:nvSpPr>
          <p:cNvPr id="13" name="Text 11"/>
          <p:cNvSpPr txBox="1"/>
          <p:nvPr/>
        </p:nvSpPr>
        <p:spPr>
          <a:xfrm>
            <a:off x="5349240" y="4873752"/>
            <a:ext cx="137160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45-75分</a:t>
            </a:r>
            <a:endParaRPr lang="en-US" sz="900" dirty="0"/>
          </a:p>
        </p:txBody>
      </p:sp>
      <p:sp>
        <p:nvSpPr>
          <p:cNvPr id="14" name="Text 12"/>
          <p:cNvSpPr txBox="1"/>
          <p:nvPr/>
        </p:nvSpPr>
        <p:spPr>
          <a:xfrm>
            <a:off x="5349240" y="5111496"/>
            <a:ext cx="137160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業務の棚卸し</a:t>
            </a:r>
            <a:endParaRPr lang="en-US" sz="1100" dirty="0"/>
          </a:p>
        </p:txBody>
      </p:sp>
      <p:sp>
        <p:nvSpPr>
          <p:cNvPr id="15" name="Text 13"/>
          <p:cNvSpPr txBox="1"/>
          <p:nvPr/>
        </p:nvSpPr>
        <p:spPr>
          <a:xfrm>
            <a:off x="6812280" y="4873752"/>
            <a:ext cx="137160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75-95分</a:t>
            </a:r>
            <a:endParaRPr lang="en-US" sz="900" dirty="0"/>
          </a:p>
        </p:txBody>
      </p:sp>
      <p:sp>
        <p:nvSpPr>
          <p:cNvPr id="16" name="Text 14"/>
          <p:cNvSpPr txBox="1"/>
          <p:nvPr/>
        </p:nvSpPr>
        <p:spPr>
          <a:xfrm>
            <a:off x="6812280" y="5111496"/>
            <a:ext cx="137160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手応えを1つ渡す</a:t>
            </a:r>
            <a:endParaRPr lang="en-US" sz="1100" dirty="0"/>
          </a:p>
        </p:txBody>
      </p:sp>
      <p:sp>
        <p:nvSpPr>
          <p:cNvPr id="17" name="Text 15"/>
          <p:cNvSpPr txBox="1"/>
          <p:nvPr/>
        </p:nvSpPr>
        <p:spPr>
          <a:xfrm>
            <a:off x="8275320" y="4873752"/>
            <a:ext cx="137160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95-110分</a:t>
            </a:r>
            <a:endParaRPr lang="en-US" sz="900" dirty="0"/>
          </a:p>
        </p:txBody>
      </p:sp>
      <p:sp>
        <p:nvSpPr>
          <p:cNvPr id="18" name="Text 16"/>
          <p:cNvSpPr txBox="1"/>
          <p:nvPr/>
        </p:nvSpPr>
        <p:spPr>
          <a:xfrm>
            <a:off x="8275320" y="5111496"/>
            <a:ext cx="137160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12回の設計合意</a:t>
            </a:r>
            <a:endParaRPr lang="en-US" sz="1100" dirty="0"/>
          </a:p>
        </p:txBody>
      </p:sp>
      <p:sp>
        <p:nvSpPr>
          <p:cNvPr id="19" name="Text 17"/>
          <p:cNvSpPr txBox="1"/>
          <p:nvPr/>
        </p:nvSpPr>
        <p:spPr>
          <a:xfrm>
            <a:off x="9738360" y="4873752"/>
            <a:ext cx="137160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110-120分</a:t>
            </a:r>
            <a:endParaRPr lang="en-US" sz="900" dirty="0"/>
          </a:p>
        </p:txBody>
      </p:sp>
      <p:sp>
        <p:nvSpPr>
          <p:cNvPr id="20" name="Text 18"/>
          <p:cNvSpPr txBox="1"/>
          <p:nvPr/>
        </p:nvSpPr>
        <p:spPr>
          <a:xfrm>
            <a:off x="9738360" y="5111496"/>
            <a:ext cx="137160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宿題・締め</a:t>
            </a:r>
            <a:endParaRPr lang="en-US" sz="1100" dirty="0"/>
          </a:p>
        </p:txBody>
      </p:sp>
      <p:sp>
        <p:nvSpPr>
          <p:cNvPr id="21" name="Text 19"/>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2" name="Text 20"/>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AIが向く業務の3条件</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くり返し発生する</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月に何度も起きること。年1回の作業を自動化するのは趣味です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文章・画像・データが中心</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人が読み書きしているもの。判断そのものではありません</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80点でも価値がある</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完璧でなくてよい。100点が要るものは下書きまでに留めます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3つとも満たす業務が、最初の一手です。1つでも欠けると、たいてい途中で止まります。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棚卸し表は、この6列で埋めます</a:t>
            </a:r>
            <a:endParaRPr lang="en-US" sz="2600" dirty="0"/>
          </a:p>
        </p:txBody>
      </p:sp>
      <p:sp>
        <p:nvSpPr>
          <p:cNvPr id="4" name="Shape 2"/>
          <p:cNvSpPr/>
          <p:nvPr/>
        </p:nvSpPr>
        <p:spPr>
          <a:xfrm>
            <a:off x="777240" y="1691640"/>
            <a:ext cx="10607040" cy="3931920"/>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業務棚卸しシート（記入例：金属加工業・従業員18名）</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業務名</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見積書の作成</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社長＋事務1名</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頻度・時間</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週5件 × 1件60分 ＝ 月20時間</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型が決まっているか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半分。過去案件を探す部分は毎回同じ</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間違えたときの痛み</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中（提出前に社長が確認している）</a:t>
            </a:r>
            <a:endParaRPr lang="en-US" sz="1150" dirty="0"/>
          </a:p>
        </p:txBody>
      </p:sp>
      <p:sp>
        <p:nvSpPr>
          <p:cNvPr id="17" name="Text 15"/>
          <p:cNvSpPr txBox="1"/>
          <p:nvPr/>
        </p:nvSpPr>
        <p:spPr>
          <a:xfrm>
            <a:off x="1097280" y="498348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3条件の判定</a:t>
            </a:r>
            <a:endParaRPr lang="en-US" sz="1100" dirty="0"/>
          </a:p>
        </p:txBody>
      </p:sp>
      <p:sp>
        <p:nvSpPr>
          <p:cNvPr id="18" name="Text 16"/>
          <p:cNvSpPr txBox="1"/>
          <p:nvPr/>
        </p:nvSpPr>
        <p:spPr>
          <a:xfrm>
            <a:off x="3291840" y="498348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 → 最初の一手</a:t>
            </a:r>
            <a:endParaRPr lang="en-US" sz="1150" dirty="0"/>
          </a:p>
        </p:txBody>
      </p:sp>
      <p:sp>
        <p:nvSpPr>
          <p:cNvPr id="19" name="Text 17"/>
          <p:cNvSpPr txBox="1"/>
          <p:nvPr/>
        </p:nvSpPr>
        <p:spPr>
          <a:xfrm>
            <a:off x="777240" y="5769864"/>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「型が決まっているか」と「間違えたときの痛み」の2列が、優先順位を決めます。時間の長さだけで選ぶと、たいてい難しすぎる業務を選んでしまいます。</a:t>
            </a:r>
            <a:endParaRPr lang="en-US" sz="12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やりがちな選び方</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「一番時間がかかっている業務からAI化する」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・選ばれたのは、与信判断や採用面接の評価</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・型が決まっておらず、毎回考えている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・間違えると取り返しがつかない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・結果、AIの答えを誰も信用しない</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時間の長さは、AI化のしやすさとは関係ありません。長い業務ほど判断が多く含まれています。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痛いところから手をつけると、最初の一手で失敗します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実際の選び方</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「頻度が高く、型があり、間違えても取り返しがつくものから」</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・選ばれたのは、見積書の下書きと議事録</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・毎週発生し、手順がほぼ同じ</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・提出前に必ず人が見るので事故らない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・2週間で「楽になった」が実感できる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最初の一手は、成果の大きさではなく「確実に成功すること」で選びます。1つ成功すると、社内の空気が変わります。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最初の1つは、成功が見えているものを選ぶ</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「大した使い方をしていないので」と実演を渋られる</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下手な使い方を見たいのではなく、どこを飛ばせるかを見たい、と目的を言い換えます</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実データが機密で出せない</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その場で伏せ方をお伝えします。社名はA社、金額は桁だけ。この作業自体が今日の学びになります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候補が3つに絞れず、10個出てくる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絞るのは今日の仕事です。3条件で機械的に落とし、残ったものから頻度順に3つ取ります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「うちの業界は特殊なので、使えないのでは」</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特殊なのは判断の部分で、その周りの定型業務はどの業界も驚くほど似ています。棚卸し表で、どこが特殊でどこが共通かを分けて見せます。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「社員にやらせたほうが早いのでは」</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第5回までは社長ご自身に使っていただきます。判断の勘所は、使った人にしか分かりません。社員に渡すのは第3回から、1名ずつです。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「無料のままで足りますか」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第4回まではほぼ足ります。第5回以降の演習で機能差が出ますが、そのときに必要な機能と金額をお示しします。契約はご判断にお任せします。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プロンプト</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AIへの指示文。長さより、前提と条件が入っているかが効きます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ハルシネーション</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AIがもっともらしい嘘を言うこと。無くなりません。前提として仕組みを作ります</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棚卸し</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業務を、誰が・どのくらいの頻度で・1回何分、に分解して並べること</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70分。操作するのはご自身です。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いまの使い方を拝見する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20分。普段どおりに操作していただきます。うまくやろうとしなくて大丈夫です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業務を棚卸しする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実際の一週間を聞きながら、6列の表をその場で埋めます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1つ、その場で解かせる</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上位3つのうち1つを今日のうちに動かし、指示文を保存して持ち帰ります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いつ使うか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「明日の朝いち、見積を書く前に」まで具体的に決めます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誰が使うか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当面は社長ご自身です。社員に渡すのは第3回から</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何を確認するか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出てきた金額と数字は、提出前に必ず目視で確認します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今日は、成果より「手応え」を持ち帰る回です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診断して終わった初回は、2回目の欠席理由をつくります。だから必ず、その日のうちに1つ動くものを持ち帰っていただきます。小さくて構いません。明日の朝に一度使えるものであることのほうが大事です。</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初回に作るものは1本でよい。小さくても、翌朝に一度使うと、そのあとの宿題が止まりにくくなる。逆に大きいものを持ち帰ると、使わないまま2回目を迎える。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次回は「今のChatGPTの使い方を作り直す」</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次回は、毎回ゼロから打つのをやめます。たまっていく形に組み替えます。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明日の朝いちで、今日つくった指示をもう一度使う</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・週に3回以上やっている文書業務を1つ決めてくる</a:t>
            </a:r>
            <a:endParaRPr lang="en-US" sz="1250" dirty="0"/>
          </a:p>
        </p:txBody>
      </p:sp>
      <p:sp>
        <p:nvSpPr>
          <p:cNvPr id="11" name="Text 9"/>
          <p:cNvSpPr txBox="1"/>
          <p:nvPr/>
        </p:nvSpPr>
        <p:spPr>
          <a:xfrm>
            <a:off x="6673291" y="347472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・会社概要の文章（Webサイトのコピーで構いません）</a:t>
            </a:r>
            <a:endParaRPr lang="en-US" sz="1250" dirty="0"/>
          </a:p>
        </p:txBody>
      </p:sp>
      <p:sp>
        <p:nvSpPr>
          <p:cNvPr id="12" name="Shape 10"/>
          <p:cNvSpPr/>
          <p:nvPr/>
        </p:nvSpPr>
        <p:spPr>
          <a:xfrm>
            <a:off x="777240" y="4800600"/>
            <a:ext cx="10607040" cy="777240"/>
          </a:xfrm>
          <a:prstGeom prst="rect">
            <a:avLst/>
          </a:prstGeom>
          <a:solidFill>
            <a:srgbClr val="EDE7DB"/>
          </a:solidFill>
          <a:ln w="12700">
            <a:solidFill>
              <a:srgbClr val="333333"/>
            </a:solidFill>
            <a:prstDash val="solid"/>
          </a:ln>
        </p:spPr>
      </p:sp>
      <p:sp>
        <p:nvSpPr>
          <p:cNvPr id="13" name="Text 11"/>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4" name="Text 12"/>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第1回　現状把握と地図づくり</a:t>
            </a:r>
            <a:endParaRPr lang="en-US" sz="900" dirty="0"/>
          </a:p>
        </p:txBody>
      </p:sp>
      <p:sp>
        <p:nvSpPr>
          <p:cNvPr id="15" name="Text 13"/>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明日の朝いちで、今日つくった指示をもう一度使う。</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作ったものは、翌日に一度使わないと2週間で忘れます。逆に一度でも実務で使えば、それは仕組みとして残ります。難しいことはお願いしません。もう一度使うだけです。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第1回　現状把握と地図づくり</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第1回 現状把握と地図づくり</dc:title>
  <dc:subject>PptxGenJS Presentation</dc:subject>
  <dc:creator>経営者のためのAI実装講座</dc:creator>
  <cp:lastModifiedBy>経営者のためのAI実装講座</cp:lastModifiedBy>
  <cp:revision>1</cp:revision>
  <dcterms:created xsi:type="dcterms:W3CDTF">2026-09-12T03:05:51Z</dcterms:created>
  <dcterms:modified xsi:type="dcterms:W3CDTF">2026-09-12T03:05:51Z</dcterms:modified>
</cp:coreProperties>
</file>