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社員同席の回。冒頭で講師から趣旨説明。第6回に来た方に加え、この半年で実際に使った社員を必ず呼んでおく（事前準備）。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「時間が浮いただけでは経営数値は動かない」は、経営者にいちばん刺さる一文。ここから事業の話に切り替える。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最終回であることを言い、道具の話は終わり、と宣言する。ここで空気が変わる。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4つ目（やらないと決めること）を最も強調する。ここを書けるかどうかで構想の質が決まる。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第1回の観察記録シートを実際に開いて突き合わせる。本人は変化に気づいていないことが多いので、記録で見せる。診断スコアの伸びもここで。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「もっと活用していく」と書きかけたら、この例を見せる。責めずに、具体に落とす作業を一緒にやる。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事業の言葉に翻訳できた瞬間が、この講座の到達点。ここまで来たら、あとは本人が進められる。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2つ目（成果が乏しい）は取り繕わない。正直に言語化したほうが、継続の相談につながることが多い。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社員向け。3つ目（やめることもあるか）に正直に答えると、かえって信頼される。無理に続ける前提で話さない。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12回を通しての共通言語の確認。ここが揃っていれば、修了後も社内で会話が成立する。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社員がいる時間帯と、退席後の作業を分ける。社員の前で内輪の作業を始めない。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掲載許諾は必ず書面で。数値の公開範囲まで確認する。口頭の了解で事例に使わない。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最後のメッセージ。資料は読まず、自分の言葉で。この一言が、修了後の行動を左右する。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3か月後のフォロー日程を、この場で仮押さえできると理想的。カレンダーに入れてもらう。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3か月後のフォローを、この場で日程まで仮押さえできると理想的。落ちるのは2か月目、と伝えておく。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96012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B9B0A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経営者のための AI実装講座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3716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 12 回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286000"/>
            <a:ext cx="10607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AIを前提に事業を組み直す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35204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道具の話を終えて、事業の話に戻ります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77240" y="4343400"/>
            <a:ext cx="10607040" cy="96012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7280" y="4480560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この回で手元に残るもの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4754880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3年構想（A4一枚）／書き直した12か月ロードマップ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今日の出発点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時間が浮いただけでは、経営数値は動きません。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83080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783080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783080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11回かけて、手は空きました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77240" y="2624328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51560" y="2624328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508760" y="2624328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ただ、空いた時間の使い道を決めていなければ、元に戻ります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77240" y="3465576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3465576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3465576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今日は道具の話を終えて、事業の話に戻ります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77240" y="4526280"/>
            <a:ext cx="10607040" cy="91440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143000" y="452628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浮いた時間を何に移すか。それを決めるのが、経営者の仕事です。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第12回　AIを前提に事業を組み直す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出発点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今日のゴール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43000"/>
            <a:ext cx="9864547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浮いた時間と変わった原価構造を、提供価値と人員計画につなぎます。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3063240"/>
            <a:ext cx="10607040" cy="18288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3291840"/>
            <a:ext cx="93341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最終回です。社員のみなさんにも同席いただき、これからの方針をお伝えします。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777240" y="4754880"/>
            <a:ext cx="10607040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0-20分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宿題確認・棚卸し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008376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20-50分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3008376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3年構想を書く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056632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50-70分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5056632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社内向け説明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104888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70-105分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7104888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ロードマップ改訂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9153144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105-120分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9153144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引き渡し・締め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第12回　AIを前提に事業を組み直す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ゴール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3年構想は、4つの問いで書きます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10607040" cy="864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4984" y="1940814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14984" y="194081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1764792"/>
            <a:ext cx="3182112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3年後、AIがやっている仕事は何か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4888382" y="1764792"/>
            <a:ext cx="6267298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業務名で3つ挙げます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77240" y="2683764"/>
            <a:ext cx="10607040" cy="864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4984" y="2932938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14984" y="293293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600200" y="2756916"/>
            <a:ext cx="3182112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その結果、人は何をしているか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4888382" y="2756916"/>
            <a:ext cx="6267298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減らす話ではなく、移す話として書きます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77240" y="3675888"/>
            <a:ext cx="10607040" cy="864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14984" y="3925062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14984" y="392506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600200" y="3749040"/>
            <a:ext cx="3182112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そのために、今ない資産は何か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4888382" y="3749040"/>
            <a:ext cx="6267298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データ・資料・人・仕組み。第8回のリストが効きます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77240" y="4668012"/>
            <a:ext cx="10607040" cy="864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14984" y="4917186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014984" y="491718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600200" y="4741164"/>
            <a:ext cx="3182112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やらないと決めることは何か</a:t>
            </a:r>
            <a:endParaRPr lang="en-US" sz="1450" dirty="0"/>
          </a:p>
        </p:txBody>
      </p:sp>
      <p:sp>
        <p:nvSpPr>
          <p:cNvPr id="23" name="Text 21"/>
          <p:cNvSpPr txBox="1"/>
          <p:nvPr/>
        </p:nvSpPr>
        <p:spPr>
          <a:xfrm>
            <a:off x="4888382" y="4741164"/>
            <a:ext cx="6267298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捨てるものを決めます。ここが構想の質を決めます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777240" y="566928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4つ目がいちばん重要です。全部やろうとして何も進まない会社が、いちばん多くあります。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第12回　AIを前提に事業を組み直す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あてはめ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この12回で変わったこと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10607040" cy="3931920"/>
          </a:xfrm>
          <a:prstGeom prst="rect">
            <a:avLst/>
          </a:prstGeom>
          <a:solidFill>
            <a:srgbClr val="FFFFFF"/>
          </a:solidFill>
          <a:ln w="15875">
            <a:solidFill>
              <a:srgbClr val="2F4F6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691640"/>
            <a:ext cx="10607040" cy="457200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1709928"/>
            <a:ext cx="10058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受講前 → いま（第1回の記録と突き合わせます）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331720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指示の出し方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3291840" y="2331720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毎回ゼロから → 型で書き、15本が決まった場所にある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862072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社内の広がり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291840" y="2862072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社長のみ → 社員◯名が業務で使用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392424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数字の扱い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291840" y="3392424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勘と経験 → 月次レポートの雛形で毎月回している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3922776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品質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291840" y="3922776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なんとなく → 正解セット10件で毎月採点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453128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体制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291840" y="4453128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社長が全部 → 推進役・費用・権限が紙になっている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4983480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診断スコア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3291840" y="4983480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受講前 ◯点 → 修了時 ◯点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5769864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第1回の記録と突き合わせます。自分では気づきにくいので、数字と記録で見ていただきます。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第12回　AIを前提に事業を組み直す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あてはめ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①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よくある3年構想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4879238" cy="1371600"/>
          </a:xfrm>
          <a:prstGeom prst="rect">
            <a:avLst/>
          </a:prstGeom>
          <a:solidFill>
            <a:srgbClr val="EDE7DB"/>
          </a:solidFill>
          <a:ln w="15875">
            <a:solidFill>
              <a:srgbClr val="8A817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422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「AIをもっと活用していく」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691640"/>
            <a:ext cx="5303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出てくるもの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・何を指すのか、誰にも分からない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7523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・来年また同じことを書く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3558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・社員は何をすればいいか分からない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9593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・結局、何も変わらない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4879238" cy="1417320"/>
          </a:xfrm>
          <a:prstGeom prst="rect">
            <a:avLst/>
          </a:prstGeom>
          <a:solidFill>
            <a:srgbClr val="E4DF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3383280"/>
            <a:ext cx="44220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抽象的な構想は、書いた本人以外には伝わりません。そして本人も、半年後には忘れています。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607040" cy="685800"/>
          </a:xfrm>
          <a:prstGeom prst="rect">
            <a:avLst/>
          </a:prstGeom>
          <a:solidFill>
            <a:srgbClr val="8A81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83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「もっと活用する」は、構想ではありません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第12回　AIを前提に事業を組み直す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①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②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事業の言葉で書いた構想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4879238" cy="1371600"/>
          </a:xfrm>
          <a:prstGeom prst="rect">
            <a:avLst/>
          </a:prstGeom>
          <a:solidFill>
            <a:srgbClr val="FFFFFF"/>
          </a:solidFill>
          <a:ln w="15875">
            <a:solidFill>
              <a:srgbClr val="3B6B4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422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「見積の即日回答を強みにして、小口案件を取る」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691640"/>
            <a:ext cx="5303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出てくるもの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・AIが何をするかが決まる（見積の下書き）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7523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・人が何をするかが決まる（提案と交渉）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3558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・必要な資産が分かる（過去実績のデータ化）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9593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・やらないことも決まる（大型案件の深追い）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4879238" cy="1417320"/>
          </a:xfrm>
          <a:prstGeom prst="rect">
            <a:avLst/>
          </a:prstGeom>
          <a:solidFill>
            <a:srgbClr val="E7F0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3383280"/>
            <a:ext cx="44220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事業の言葉に翻訳できたとき、はじめてAIは経営の道具になります。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607040" cy="6858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83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AIの話ではなく、何で勝つかの話にする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第12回　AIを前提に事業を組み直す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②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つまずきやすいところ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この回で、よく起きること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3736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2121408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3年の話が「もっとAIを使う」で止まる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762549" y="1847088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08076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080760" y="2121408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4つの問いの2番目（人は何をしているか）に戻します。事業の言葉が出るまで粘ります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77240" y="2944368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328416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成果が乏しいまま最終回を迎えた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762549" y="3054096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08076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6080760" y="3328416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取り繕いません。何が進まなかったかを一緒に言語化するほうが、次につながります。理由は大半が「時間」と「人」です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77240" y="4151376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51560" y="42702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4535424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継続の相談をされる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762549" y="4261104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080760" y="42702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6080760" y="4535424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講座の延長ではなく、月1回の伴走として別建てにするのが自然です。第10回の月次チェックが接点になります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第12回　AIを前提に事業を組み直す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つまずき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想定問答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みなさんから、よくいただくご質問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37360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37360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7280" y="1828800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「これから、私たちの仕事はどう変わりますか」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231136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下書きと転記が減ります。空いた時間を何に使うかは、これからみなさんと決めていきます。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3035808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" y="3035808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97280" y="3127248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「新しく入る人にも、これを教えるのですか」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529584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教えます。手順書と専用AIがあるので、覚えることはむしろ減っています。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334256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7240" y="4334256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97280" y="4425696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「うまくいかなかったら、やめることもありますか」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828032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あります。3か月ごとに費用と効果を見て、合わなければ縮小します。やめる基準も決めてあります。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第12回　AIを前提に事業を組み直す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想定問答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用語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この12回で使った言葉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82880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192024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指示の型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065422" y="195681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383634" y="192024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役割・前提・依頼・制約・出力形式の5要素。すべての出発点です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306324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97280" y="315468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確認ポイント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065422" y="319125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383634" y="315468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人が止める場所。金額・社外・不可逆の前に置きます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29768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97280" y="438912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正解セット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065422" y="442569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383634" y="438912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毎月同じ10件で採点する仕組み。品質を数字で語るための道具です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562356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配布した用語辞典にも同じものが載っています。覚える必要はありません。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第12回　AIを前提に事業を組み直す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用語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今日の流れ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社員同席・発表を含む。操作するのはご自身です。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作ったものを全部並べる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12回分の成果物をお渡しします。第1回の記録とも突き合わせます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8912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6344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3年構想を1枚にする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4つの問いに答えます。ここは社員退席後でも構いません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00100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7532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7532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27532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社員のみなさんに方針を話す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827532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これからどうするかを、社長ご自身の言葉で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第12回　AIを前提に事業を組み直す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修了時にすること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ここを決めないと、持ち帰っても使われません。紙に書きます。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0312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10312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43000" y="217627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診断をもう一度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006901" y="217627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受講前と同じ設問です。点数の伸びが、そのまま効果測定になります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315468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7240" y="315468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143000" y="322783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成果報告シートの記入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006901" y="322783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削減時間と社員の反応を数字に。うまくいかなかったことも書いてください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420624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7240" y="420624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143000" y="427939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掲載の許諾確認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006901" y="427939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事例として使う場合は、社名を出さず「従業員◯名の◯◯業」の形で。数値の公開範囲も確認します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第12回　AIを前提に事業を組み直す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組み込み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09728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最後に、ひとつだけ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2148840"/>
            <a:ext cx="64008" cy="219456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88720" y="2148840"/>
            <a:ext cx="9966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16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12回で最も効いたのは、講座の中で作ったものを翌日に一度使ってみることでした。使わなかったものは、どれだけよくできていても2週間で忘れます。逆に、一度でも実務で使えば、それは御社の仕組みになります。これから作るものについても、同じです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777240" y="4709160"/>
            <a:ext cx="10607040" cy="96012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480060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よくある型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5029200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3年構想は、書いたとおりにはならない。ただ、書いたから気づけることがある。当てるための紙ではなく、気づくための紙だと考える。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第12回　AIを前提に事業を組み直す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次回は「修了後」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9546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落ちるのは2か月目です。3か月後に一度お話しすることで、止まりかけたものを立て直せます。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2240280"/>
            <a:ext cx="4985309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2377440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次回までにやること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2743200"/>
            <a:ext cx="4436669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3か月後のフォローで、進捗をお聞かせください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98971" y="2240280"/>
            <a:ext cx="4985309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673291" y="2377440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次回の持ち物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6673291" y="2743200"/>
            <a:ext cx="4436669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・（修了時）診断の再回答／成果報告シート／掲載許諾の確認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77240" y="4800600"/>
            <a:ext cx="10607040" cy="77724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97280" y="480060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この内容は、次回の3日前にあらためてお送りします。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第12回　AIを前提に事業を組み直す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128016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今日の宿題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6916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ひとつだけ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77240" y="2651760"/>
            <a:ext cx="10607040" cy="137160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34440" y="27432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（修了後）3か月後のフォローで、進捗をお聞かせください。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42976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なぜこの宿題か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4572000"/>
            <a:ext cx="95463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35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修了直後は勢いがあります。落ちるのは2か月目です。3か月後に一度お話しすることで、止まりかけたものを立て直せます。ご負担のない範囲で結構です。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6382512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55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第12回　AIを前提に事業を組み直す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第12回 AIを前提に事業を組み直す</dc:title>
  <dc:subject>PptxGenJS Presentation</dc:subject>
  <dc:creator>経営者のためのAI実装講座</dc:creator>
  <cp:lastModifiedBy>経営者のためのAI実装講座</cp:lastModifiedBy>
  <cp:revision>1</cp:revision>
  <dcterms:created xsi:type="dcterms:W3CDTF">2026-09-12T03:05:52Z</dcterms:created>
  <dcterms:modified xsi:type="dcterms:W3CDTF">2026-09-12T03:05:52Z</dcterms:modified>
</cp:coreProperties>
</file>