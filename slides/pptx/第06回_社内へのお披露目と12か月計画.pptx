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この回だけ、参加者が違う。冒頭で講師から趣旨説明をして、社員の緊張をほぐす。「評価の場ではありません」と明言する。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社員に向けた導入。社長が何をやってきたかを、講師から3行で説明する。社長本人が話し始める前の助走をつくる。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「今日の主役は社長です」と言い切る。講師は司会と補佐に回ることを、社員の前で宣言しておくと、このあと社長が話しやすくなる。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社長に話してもらう。講師はスライドを送るだけ。4項目それぞれ、どの業務から生まれたかを社長の言葉で。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ロードマップは社員退席後に完成させるが、枠組みだけここで見せる。「やめる基準」の行を指差して、無理には続けないことを社員に伝えると安心される。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4つの質問は、聞かれる前にこちらから出す。先回りして出すと、場の空気が一気にほぐれる。ここは講師が読み上げてよい。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1つ目（人が減らされるのか）だけは、必ず社長に答えていただく。事前の壁打ちで準備済みのはず。講師は口を出さない。残り3つは講師が事実を示してよい。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反発が出たら記録に徹する。その場で論破しない。出た不安は第11回の体制設計の入力になる。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3問とも社員向け。1つ目は社長に答えていただく。2つ目・3つ目は講師が答えてよい。特に3つ目は、負担が小さいことを具体的に示すと空気が変わる。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社員向けの言い換え。専門用語を使わない。ここで配る用語辞典は、受講者用のものと同じで構わない。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社員がいる時間は1時間強。ロードマップ作成は退席後。時間配分を間違えると、社員の前で内輪の作業を始めることになる。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第12回の日程を、社員がいるこの場で押さえる。後から調整すると、また集まらない。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事前の壁打ち（1週間前・別枠30分）を省略しない。ここを飛ばすと当日が崩れる。特にこの質問への答えは、必ず声に出して練習してもらう。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社員退席後に話す。上級編に進むかどうかの判断も、ここで確認する。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社長の宿題。1つだけ、を強調する。ロードマップ全部を動かそうとして、結局何も動かない会社が多い。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0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96012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B9B0A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経営者のための AI実装講座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37160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 6 回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2286000"/>
            <a:ext cx="10607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社内へのお披露目と12か月計画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35204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C6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社員のみなさんと一緒に見る回です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77240" y="4343400"/>
            <a:ext cx="10607040" cy="960120"/>
          </a:xfrm>
          <a:prstGeom prst="rect">
            <a:avLst/>
          </a:prstGeom>
          <a:solidFill>
            <a:srgbClr val="2E2A26"/>
          </a:solidFill>
          <a:ln w="12700">
            <a:solidFill>
              <a:srgbClr val="B04A2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97280" y="4480560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この回で手元に残るもの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4754880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12か月ロードマップ／社内説明の完了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今日の出発点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ここまでは、社長と講師だけの話でした。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83080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1783080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1783080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作ったものは動いている。ただ、知っているのは社長だけ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77240" y="2624328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51560" y="2624328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508760" y="2624328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社員から見ると、何が起きているのか分からない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77240" y="3465576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51560" y="3465576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508760" y="3465576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だから今日は、社長ご自身の言葉で説明していただきます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77240" y="4526280"/>
            <a:ext cx="10607040" cy="914400"/>
          </a:xfrm>
          <a:prstGeom prst="rect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143000" y="452628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今日、社内に開きます。閉じたままだと、この先は止まります。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第6回　社内へのお披露目と12か月計画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出発点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今日のゴール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143000"/>
            <a:ext cx="9864547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社長ご自身の言葉で、社員のみなさんに「うちはAIをこう使う」を説明します。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3063240"/>
            <a:ext cx="10607040" cy="18288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3291840"/>
            <a:ext cx="93341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今日の主役は講師ではありません。説明するのは社長です。講師は、みなさんからのご質問にお答えする役に回ります。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777240" y="4754880"/>
            <a:ext cx="10607040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0120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0-15分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前回の宿題を実物で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3008376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15-35分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3008376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テーマとデモ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056632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35-90分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5056632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一緒に手を動かす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104888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90-105分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7104888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業務への組み込み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9153144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105-120分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9153144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宿題・記録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第6回　社内へのお披露目と12か月計画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ゴール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この5回で作ったもの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10607040" cy="864108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4984" y="1940814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14984" y="194081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600200" y="1764792"/>
            <a:ext cx="3182112" cy="7178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自社の指示文 15本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4888382" y="1764792"/>
            <a:ext cx="6267298" cy="7178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毎回ゼロから打つのをやめ、蓄積する形にしました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77240" y="2683764"/>
            <a:ext cx="10607040" cy="864108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4984" y="2932938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14984" y="293293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600200" y="2756916"/>
            <a:ext cx="3182112" cy="7178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社員が使える文書テンプレート 3種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4888382" y="2756916"/>
            <a:ext cx="6267298" cy="7178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すでに1名に使っていただいています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77240" y="3675888"/>
            <a:ext cx="10607040" cy="864108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14984" y="3925062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14984" y="392506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600200" y="3749040"/>
            <a:ext cx="3182112" cy="7178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月次レポートの雛形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4888382" y="3749040"/>
            <a:ext cx="6267298" cy="7178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計算は表計算、意味はAI、と役割を分けてあります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77240" y="4668012"/>
            <a:ext cx="10607040" cy="864108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14984" y="4917186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014984" y="491718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600200" y="4741164"/>
            <a:ext cx="3182112" cy="7178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自社資料を読んで答えるAI 1つ</a:t>
            </a:r>
            <a:endParaRPr lang="en-US" sz="1450" dirty="0"/>
          </a:p>
        </p:txBody>
      </p:sp>
      <p:sp>
        <p:nvSpPr>
          <p:cNvPr id="23" name="Text 21"/>
          <p:cNvSpPr txBox="1"/>
          <p:nvPr/>
        </p:nvSpPr>
        <p:spPr>
          <a:xfrm>
            <a:off x="4888382" y="4741164"/>
            <a:ext cx="6267298" cy="7178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資料にないことは答えない設定にしてあります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777240" y="566928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どれも、御社の実際の業務から作ったものです。よそから買ってきたものは1つもありません。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第6回　社内へのお披露目と12か月計画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考え方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あてはめ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12か月の進め方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10607040" cy="3401568"/>
          </a:xfrm>
          <a:prstGeom prst="rect">
            <a:avLst/>
          </a:prstGeom>
          <a:solidFill>
            <a:srgbClr val="FFFFFF"/>
          </a:solidFill>
          <a:ln w="15875">
            <a:solidFill>
              <a:srgbClr val="2F4F6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691640"/>
            <a:ext cx="10607040" cy="457200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1709928"/>
            <a:ext cx="10058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AI化ロードマップ（各期に担当者と「やめる基準」を必ず書く）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2331720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0〜3か月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3291840" y="2331720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定着させる。いま動いているものを、毎日使う状態にする。増やさない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862072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4〜6か月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3291840" y="2862072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広げる。使う人と業務を増やす。渡す相手を1名ずつ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392424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7〜9か月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3291840" y="3392424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つなげる。手作業の転記をなくす。止まったら気づく仕組みも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3922776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10〜12か月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3291840" y="3922776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測る。品質と効果を数字にして、次の1年を決める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453128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各期に書くこと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291840" y="4453128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担当者の実名／必要な費用／やめる判断の基準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5239512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「やめる基準」を書くのが要です。始める基準しか書かれていない計画は、うまくいかなかったときに誰も止められません。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第6回　社内へのお披露目と12か月計画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あてはめ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①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みなさんが気にされていること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4879238" cy="1371600"/>
          </a:xfrm>
          <a:prstGeom prst="rect">
            <a:avLst/>
          </a:prstGeom>
          <a:solidFill>
            <a:srgbClr val="EDE7DB"/>
          </a:solidFill>
          <a:ln w="15875">
            <a:solidFill>
              <a:srgbClr val="8A817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084832"/>
            <a:ext cx="44220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社員のみなさんからよく出るご質問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080760" y="1691640"/>
            <a:ext cx="53035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0936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出てくるもの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6309360" y="2148840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・これで人が減らされるのか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309360" y="2752344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・入力した情報は外に漏れないのか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3355848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・間違えたら誰の責任になるのか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3959352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・使わなくてもいいのか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3291840"/>
            <a:ext cx="4879238" cy="1417320"/>
          </a:xfrm>
          <a:prstGeom prst="rect">
            <a:avLst/>
          </a:prstGeom>
          <a:solidFill>
            <a:srgbClr val="E4DFD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05840" y="3383280"/>
            <a:ext cx="442203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どれも当然の疑問です。この場で曖昧にすると、現場では「よく分からないもの」として扱われ、結局使われません。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77240" y="4983480"/>
            <a:ext cx="10607040" cy="685800"/>
          </a:xfrm>
          <a:prstGeom prst="rect">
            <a:avLst/>
          </a:prstGeom>
          <a:solidFill>
            <a:srgbClr val="8A81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498348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不安を言葉にしないまま進むと、必ず後で止まります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第6回　社内へのお披露目と12か月計画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①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②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この場でお答えします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4879238" cy="1371600"/>
          </a:xfrm>
          <a:prstGeom prst="rect">
            <a:avLst/>
          </a:prstGeom>
          <a:solidFill>
            <a:srgbClr val="FFFFFF"/>
          </a:solidFill>
          <a:ln w="15875">
            <a:solidFill>
              <a:srgbClr val="3B6B4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084832"/>
            <a:ext cx="44220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社長からの回答＋事実の提示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080760" y="1691640"/>
            <a:ext cx="53035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0936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出てくるもの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6309360" y="2148840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・減らす話ではなく、空いた時間を何に移すかの話です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309360" y="2752344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・契約と設定の事実を、いまこの場でお見せします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3355848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・確認する場所を決めてあります。ルールはA4一枚です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3959352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・会社としての方針を、いまお伝えします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3291840"/>
            <a:ext cx="4879238" cy="1417320"/>
          </a:xfrm>
          <a:prstGeom prst="rect">
            <a:avLst/>
          </a:prstGeom>
          <a:solidFill>
            <a:srgbClr val="E7F0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05840" y="3383280"/>
            <a:ext cx="442203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この4つに、はっきり答えられるかどうかで、来月から使われるかが決まります。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77240" y="4983480"/>
            <a:ext cx="10607040" cy="6858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498348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答えを持って臨めば、反対意見は設計の材料になります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第6回　社内へのお披露目と12か月計画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②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つまずきやすいところ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この回で、よく起きること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3736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18562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2121408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社員が集まらない／1名しか来ない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762549" y="1847088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080760" y="18562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6080760" y="2121408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人数より、その1名が推進候補かどうかです。少なければ形式を座談会に変えます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77240" y="2944368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51560" y="30632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3328416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発表中に社長が固まる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762549" y="3054096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080760" y="30632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6080760" y="3328416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講師が質問を挟んで話を引き出します。代わりに説明してはいけません。講師が主役になった瞬間、AIは「外の人のもの」になります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77240" y="4151376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051560" y="42702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4535424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強い反発が出る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5762549" y="4261104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080760" y="42702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6080760" y="4535424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遮りません。全部出させます。反発が出た回のほうが、後の定着はよくなります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第6回　社内へのお披露目と12か月計画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つまずき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想定問答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みなさんから、よくいただくご質問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37360"/>
            <a:ext cx="106070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37360"/>
            <a:ext cx="54864" cy="1170432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97280" y="1828800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「自分の仕事は、いつAIに置き換わりますか」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2231136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置き換える予定はありません。今日お見せしたのは、下書きと転記の部分です。判断と交渉は、これまで通りみなさんの仕事です。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77240" y="3035808"/>
            <a:ext cx="106070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7240" y="3035808"/>
            <a:ext cx="54864" cy="1170432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97280" y="3127248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「間違った答えが出たら、どう見分ければいいですか」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529584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資料にないことは『記載がありません』と答える設定にしてあります。金額と日付だけは、必ず人が確認する決まりです。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4334256"/>
            <a:ext cx="106070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7240" y="4334256"/>
            <a:ext cx="54864" cy="1170432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97280" y="4425696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「使い方を覚える時間がありません」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828032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覚えることはほとんどありません。テンプレートの【　】を埋めるだけです。最初の1回だけ、隣で一緒にやります。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第6回　社内へのお披露目と12か月計画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想定問答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用語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出てきた言葉（社員のみなさん向け）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82880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97280" y="1920240"/>
            <a:ext cx="296997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テンプレート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065422" y="1956816"/>
            <a:ext cx="18288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383634" y="1920240"/>
            <a:ext cx="66824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差し替える箇所が【　】になっている定型文。そこだけ埋めれば使えます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77240" y="306324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97280" y="3154680"/>
            <a:ext cx="296997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専用AI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065422" y="3191256"/>
            <a:ext cx="18288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383634" y="3154680"/>
            <a:ext cx="66824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自社の資料を読んで答えるAI。資料にないことは答えません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429768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97280" y="4389120"/>
            <a:ext cx="296997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利用ルール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065422" y="4425696"/>
            <a:ext cx="18288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383634" y="4389120"/>
            <a:ext cx="66824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入れてはいけない情報と、確認が必要な業務を書いたA4一枚。今日お配りします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562356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配布した用語辞典にも同じものが載っています。覚える必要はありません。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第6回　社内へのお披露目と12か月計画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用語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今日の流れ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社員同席・発表を含む。操作するのはご自身です。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7724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156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作ったものをお見せする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実際に動かします。すでに使っている社員の方がいれば、その方に話していただきます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8912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6344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ご質問・ご意見をうかがう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466344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否定的なご意見ほど、丁寧に記録します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00100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7532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7532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827532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12か月の方針を決める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827532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社員退席後に、ロードマップをその場で完成させます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第6回　社内へのお披露目と12か月計画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業務への組み込み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この場で決めること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ここを決めないと、持ち帰っても使われません。紙に書きます。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77240" y="210312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10312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43000" y="217627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次に渡す相手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006901" y="217627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0〜3か月で誰に広げるか。実名で決めます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77240" y="315468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7240" y="315468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143000" y="322783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困ったときの相談先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006901" y="322783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社内の誰に聞けばよいかを、社員に明示します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420624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77240" y="420624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143000" y="427939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次に集まる日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006901" y="427939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第12回の社内お披露目の日程を、いまこの場で押さえます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第6回　社内へのお披露目と12か月計画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組み込み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ここだけは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09728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「人が減らされるのか」に、講師が答えてはいけません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2148840"/>
            <a:ext cx="64008" cy="2194560"/>
          </a:xfrm>
          <a:prstGeom prst="rect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88720" y="2148840"/>
            <a:ext cx="99669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60000"/>
              </a:lnSpc>
              <a:buNone/>
            </a:pPr>
            <a:r>
              <a:rPr lang="en-US" sz="16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質問は必ず出ます。そして、社長ご自身が答えたかどうかを社員は見ています。講師が代わりに答えると、それは外部の人の言い分になり、誰も信じません。事前の壁打ちで、この質問への答えを必ず準備しておいてください。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777240" y="4709160"/>
            <a:ext cx="10607040" cy="96012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480060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よくある型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5029200"/>
            <a:ext cx="10058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お披露目で最も強く反対する人は、たいてい理由がいちばん具体的。推進役の候補として見ておくと、設計が現実的になる。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第6回　社内へのお披露目と12か月計画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ここだけは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次回まで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次回は「手作業のつなぎ目をなくす（上級編）」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95463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上級編に進みます。人が手で運んでいる部分を、自動で流れるようにします。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2240280"/>
            <a:ext cx="4985309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2377440"/>
            <a:ext cx="4242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次回までにやること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51560" y="2743200"/>
            <a:ext cx="4436669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12か月ロードマップの0〜3か月を、1つだけ着手する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398971" y="2240280"/>
            <a:ext cx="4985309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673291" y="2377440"/>
            <a:ext cx="4242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次回の持ち物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6673291" y="2743200"/>
            <a:ext cx="4436669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・社内のメール・ファイル共有の管理担当がどなたかを確認してくる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777240" y="4800600"/>
            <a:ext cx="10607040" cy="77724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97280" y="4800600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この内容は、次回の3日前にあらためてお送りします。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第6回　社内へのお披露目と12か月計画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次回まで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320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128016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今日の宿題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69164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ひとつだけ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77240" y="2651760"/>
            <a:ext cx="10607040" cy="1371600"/>
          </a:xfrm>
          <a:prstGeom prst="rect">
            <a:avLst/>
          </a:prstGeom>
          <a:solidFill>
            <a:srgbClr val="2E2A26"/>
          </a:solidFill>
          <a:ln w="12700">
            <a:solidFill>
              <a:srgbClr val="B04A2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234440" y="2743200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12か月ロードマップの0〜3か月に書いたことを、1つだけ着手する。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429768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なぜこの宿題か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4572000"/>
            <a:ext cx="95463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350" dirty="0">
                <a:solidFill>
                  <a:srgbClr val="CFC6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ロードマップは書いた時点では紙です。1つでも着手すると、計画が動いているものになります。増やさず、1つだけで構いません。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6382512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55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第6回　社内へのお披露目と12か月計画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第6回 社内へのお披露目と12か月計画</dc:title>
  <dc:subject>PptxGenJS Presentation</dc:subject>
  <dc:creator>経営者のためのAI実装講座</dc:creator>
  <cp:lastModifiedBy>経営者のためのAI実装講座</cp:lastModifiedBy>
  <cp:revision>1</cp:revision>
  <dcterms:created xsi:type="dcterms:W3CDTF">2026-09-12T02:40:47Z</dcterms:created>
  <dcterms:modified xsi:type="dcterms:W3CDTF">2026-09-12T02:40:47Z</dcterms:modified>
</cp:coreProperties>
</file>