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上級編の初回。基礎編の成果物が実際に使われているかを、ここで必ず確認する。使われていなければ、第5回相当をやり直す判断もありうる。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「AIは速いのに前後で時間が消えている」は、受講者自身が薄々感じている。具体的な業務名を1つ挙げてもらうと早い。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抽象度が上がることを先に断っておく。ただし進め方は同じで、今日も1本動かすと宣言する。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3条件のうち2つ目を強調。取り返しがつかない工程を自動化すると、事故が外に出る。ここが第9回の確認ポイント設計につながる。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「返信そのものは自動化しない」を指差して言う。線の引き方が今日の学び。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この失敗談は、実例として話せると強い。なければ「よく聞く話」として話す。誇張しない。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通知と手動代替手順の2つを、その場で組み込むところまで見せる。ここを見せないと、受講者は本体だけ作って満足してしまう。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2つ目は講師にとって試練だが、むしろ機会。「分かりません、調べます」と言って調べる過程を見せると、受講者の信頼はむしろ上がる。知ったかぶりが最悪。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1つ目は毎回出る。作れないことを恥じる必要はない、と明言する。発注できる経営者は、外注先から見ても仕事がしやすい相手だと補足すると納得されやすい。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通知と手動代替の2語は、この回の合言葉。以後、自動化の話が出るたびに『通知は？』と聞けるようになる。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ツール選定は受講者の基盤から1つだけ提示する。3種類を並べて比較説明しない。選択肢を見せるのは親切ではなく、判断の押し付けになる。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本番開始日を決める。テスト運用のまま2週間置くと、そのまま忘れられる。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費用の話が出たら、第11回で管理表に載せると答える。ここで契約判断まで踏み込まない。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次回の質問10件は、事前に集めておいてもらうと演習が速い。社員に聞いてもらう形でよい。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「直さなくてよい」と明示する。直そうとして詰まり、報告が来なくなるのを防ぐ。記録だけでよい。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960120"/>
            <a:ext cx="10607040" cy="320040"/>
          </a:xfrm>
          <a:prstGeom prst="rect">
            <a:avLst/>
          </a:prstGeom>
          <a:noFill/>
          <a:ln/>
        </p:spPr>
        <p:txBody>
          <a:bodyPr wrap="square" lIns="0" tIns="0" rIns="0" bIns="0" rtlCol="0" anchor="ctr"/>
          <a:lstStyle/>
          <a:p>
            <a:pPr indent="0" marL="0">
              <a:buNone/>
            </a:pPr>
            <a:r>
              <a:rPr lang="en-US" sz="1200" spc="300" kern="0" dirty="0">
                <a:solidFill>
                  <a:srgbClr val="B9B0A4"/>
                </a:solidFill>
                <a:latin typeface="Yu Gothic" pitchFamily="34" charset="0"/>
                <a:ea typeface="Yu Gothic" pitchFamily="34" charset="-122"/>
                <a:cs typeface="Yu Gothic" pitchFamily="34" charset="-120"/>
              </a:rPr>
              <a:t>経営者のための AI実装講座</a:t>
            </a:r>
            <a:endParaRPr lang="en-US" sz="1200" dirty="0"/>
          </a:p>
        </p:txBody>
      </p:sp>
      <p:sp>
        <p:nvSpPr>
          <p:cNvPr id="3" name="Text 1"/>
          <p:cNvSpPr txBox="1"/>
          <p:nvPr/>
        </p:nvSpPr>
        <p:spPr>
          <a:xfrm>
            <a:off x="777240" y="1371600"/>
            <a:ext cx="3657600" cy="822960"/>
          </a:xfrm>
          <a:prstGeom prst="rect">
            <a:avLst/>
          </a:prstGeom>
          <a:noFill/>
          <a:ln/>
        </p:spPr>
        <p:txBody>
          <a:bodyPr wrap="square" lIns="0" tIns="0" rIns="0" bIns="0" rtlCol="0" anchor="ctr"/>
          <a:lstStyle/>
          <a:p>
            <a:pPr indent="0" marL="0">
              <a:buNone/>
            </a:pPr>
            <a:r>
              <a:rPr lang="en-US" sz="4400" b="1" dirty="0">
                <a:solidFill>
                  <a:srgbClr val="B04A2F"/>
                </a:solidFill>
                <a:latin typeface="Yu Gothic" pitchFamily="34" charset="0"/>
                <a:ea typeface="Yu Gothic" pitchFamily="34" charset="-122"/>
                <a:cs typeface="Yu Gothic" pitchFamily="34" charset="-120"/>
              </a:rPr>
              <a:t>第 7 回</a:t>
            </a:r>
            <a:endParaRPr lang="en-US" sz="4400" dirty="0"/>
          </a:p>
        </p:txBody>
      </p:sp>
      <p:sp>
        <p:nvSpPr>
          <p:cNvPr id="4" name="Text 2"/>
          <p:cNvSpPr txBox="1"/>
          <p:nvPr/>
        </p:nvSpPr>
        <p:spPr>
          <a:xfrm>
            <a:off x="777240" y="2286000"/>
            <a:ext cx="10607040" cy="1188720"/>
          </a:xfrm>
          <a:prstGeom prst="rect">
            <a:avLst/>
          </a:prstGeom>
          <a:noFill/>
          <a:ln/>
        </p:spPr>
        <p:txBody>
          <a:bodyPr wrap="square" lIns="0" tIns="0" rIns="0" bIns="0" rtlCol="0" anchor="ctr"/>
          <a:lstStyle/>
          <a:p>
            <a:pPr indent="0" marL="0">
              <a:lnSpc>
                <a:spcPct val="125000"/>
              </a:lnSpc>
              <a:buNone/>
            </a:pPr>
            <a:r>
              <a:rPr lang="en-US" sz="3600" b="1" dirty="0">
                <a:solidFill>
                  <a:srgbClr val="FFFFFF"/>
                </a:solidFill>
                <a:latin typeface="Yu Gothic" pitchFamily="34" charset="0"/>
                <a:ea typeface="Yu Gothic" pitchFamily="34" charset="-122"/>
                <a:cs typeface="Yu Gothic" pitchFamily="34" charset="-120"/>
              </a:rPr>
              <a:t>手作業のつなぎ目をなくす</a:t>
            </a:r>
            <a:endParaRPr lang="en-US" sz="3600" dirty="0"/>
          </a:p>
        </p:txBody>
      </p:sp>
      <p:sp>
        <p:nvSpPr>
          <p:cNvPr id="5" name="Text 3"/>
          <p:cNvSpPr txBox="1"/>
          <p:nvPr/>
        </p:nvSpPr>
        <p:spPr>
          <a:xfrm>
            <a:off x="777240" y="3520440"/>
            <a:ext cx="10607040" cy="457200"/>
          </a:xfrm>
          <a:prstGeom prst="rect">
            <a:avLst/>
          </a:prstGeom>
          <a:noFill/>
          <a:ln/>
        </p:spPr>
        <p:txBody>
          <a:bodyPr wrap="square" lIns="0" tIns="0" rIns="0" bIns="0" rtlCol="0" anchor="ctr"/>
          <a:lstStyle/>
          <a:p>
            <a:pPr indent="0" marL="0">
              <a:buNone/>
            </a:pPr>
            <a:r>
              <a:rPr lang="en-US" sz="1700" dirty="0">
                <a:solidFill>
                  <a:srgbClr val="CFC6B8"/>
                </a:solidFill>
                <a:latin typeface="Yu Gothic" pitchFamily="34" charset="0"/>
                <a:ea typeface="Yu Gothic" pitchFamily="34" charset="-122"/>
                <a:cs typeface="Yu Gothic" pitchFamily="34" charset="-120"/>
              </a:rPr>
              <a:t>点で使う、から、流れで使うへ</a:t>
            </a:r>
            <a:endParaRPr lang="en-US" sz="1700" dirty="0"/>
          </a:p>
        </p:txBody>
      </p:sp>
      <p:sp>
        <p:nvSpPr>
          <p:cNvPr id="6" name="Shape 4"/>
          <p:cNvSpPr/>
          <p:nvPr/>
        </p:nvSpPr>
        <p:spPr>
          <a:xfrm>
            <a:off x="777240" y="4343400"/>
            <a:ext cx="10607040" cy="960120"/>
          </a:xfrm>
          <a:prstGeom prst="rect">
            <a:avLst/>
          </a:prstGeom>
          <a:solidFill>
            <a:srgbClr val="2E2A26"/>
          </a:solidFill>
          <a:ln w="12700">
            <a:solidFill>
              <a:srgbClr val="B04A2F"/>
            </a:solidFill>
            <a:prstDash val="solid"/>
          </a:ln>
        </p:spPr>
      </p:sp>
      <p:sp>
        <p:nvSpPr>
          <p:cNvPr id="7" name="Text 5"/>
          <p:cNvSpPr txBox="1"/>
          <p:nvPr/>
        </p:nvSpPr>
        <p:spPr>
          <a:xfrm>
            <a:off x="1097280" y="4480560"/>
            <a:ext cx="996696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この回で手元に残るもの</a:t>
            </a:r>
            <a:endParaRPr lang="en-US" sz="1000" dirty="0"/>
          </a:p>
        </p:txBody>
      </p:sp>
      <p:sp>
        <p:nvSpPr>
          <p:cNvPr id="8" name="Text 6"/>
          <p:cNvSpPr txBox="1"/>
          <p:nvPr/>
        </p:nvSpPr>
        <p:spPr>
          <a:xfrm>
            <a:off x="1097280" y="4754880"/>
            <a:ext cx="9966960" cy="41148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自動で流れる業務フロー 1本</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今日の出発点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AIは動いている。でも、その前後はまだ人が運んでいます。</a:t>
            </a:r>
            <a:endParaRPr lang="en-US" sz="2600" dirty="0"/>
          </a:p>
        </p:txBody>
      </p:sp>
      <p:sp>
        <p:nvSpPr>
          <p:cNvPr id="4" name="Shape 2"/>
          <p:cNvSpPr/>
          <p:nvPr/>
        </p:nvSpPr>
        <p:spPr>
          <a:xfrm>
            <a:off x="777240" y="1783080"/>
            <a:ext cx="10607040" cy="713232"/>
          </a:xfrm>
          <a:prstGeom prst="rect">
            <a:avLst/>
          </a:prstGeom>
          <a:solidFill>
            <a:srgbClr val="FFFFFF"/>
          </a:solidFill>
          <a:ln w="12700">
            <a:solidFill>
              <a:srgbClr val="EDE7DB"/>
            </a:solidFill>
            <a:prstDash val="solid"/>
          </a:ln>
        </p:spPr>
      </p:sp>
      <p:sp>
        <p:nvSpPr>
          <p:cNvPr id="5" name="Text 3"/>
          <p:cNvSpPr txBox="1"/>
          <p:nvPr/>
        </p:nvSpPr>
        <p:spPr>
          <a:xfrm>
            <a:off x="1051560" y="1783080"/>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6" name="Text 4"/>
          <p:cNvSpPr txBox="1"/>
          <p:nvPr/>
        </p:nvSpPr>
        <p:spPr>
          <a:xfrm>
            <a:off x="1508760" y="1783080"/>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データを集めるのは人、AIに渡すのも人</a:t>
            </a:r>
            <a:endParaRPr lang="en-US" sz="1500" dirty="0"/>
          </a:p>
        </p:txBody>
      </p:sp>
      <p:sp>
        <p:nvSpPr>
          <p:cNvPr id="7" name="Shape 5"/>
          <p:cNvSpPr/>
          <p:nvPr/>
        </p:nvSpPr>
        <p:spPr>
          <a:xfrm>
            <a:off x="777240" y="2624328"/>
            <a:ext cx="10607040" cy="713232"/>
          </a:xfrm>
          <a:prstGeom prst="rect">
            <a:avLst/>
          </a:prstGeom>
          <a:solidFill>
            <a:srgbClr val="FFFFFF"/>
          </a:solidFill>
          <a:ln w="12700">
            <a:solidFill>
              <a:srgbClr val="EDE7DB"/>
            </a:solidFill>
            <a:prstDash val="solid"/>
          </a:ln>
        </p:spPr>
      </p:sp>
      <p:sp>
        <p:nvSpPr>
          <p:cNvPr id="8" name="Text 6"/>
          <p:cNvSpPr txBox="1"/>
          <p:nvPr/>
        </p:nvSpPr>
        <p:spPr>
          <a:xfrm>
            <a:off x="1051560" y="2624328"/>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9" name="Text 7"/>
          <p:cNvSpPr txBox="1"/>
          <p:nvPr/>
        </p:nvSpPr>
        <p:spPr>
          <a:xfrm>
            <a:off x="1508760" y="2624328"/>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出てきたものを保存するのも人、知らせるのも人</a:t>
            </a:r>
            <a:endParaRPr lang="en-US" sz="1500" dirty="0"/>
          </a:p>
        </p:txBody>
      </p:sp>
      <p:sp>
        <p:nvSpPr>
          <p:cNvPr id="10" name="Shape 8"/>
          <p:cNvSpPr/>
          <p:nvPr/>
        </p:nvSpPr>
        <p:spPr>
          <a:xfrm>
            <a:off x="777240" y="3465576"/>
            <a:ext cx="10607040" cy="713232"/>
          </a:xfrm>
          <a:prstGeom prst="rect">
            <a:avLst/>
          </a:prstGeom>
          <a:solidFill>
            <a:srgbClr val="FFFFFF"/>
          </a:solidFill>
          <a:ln w="12700">
            <a:solidFill>
              <a:srgbClr val="EDE7DB"/>
            </a:solidFill>
            <a:prstDash val="solid"/>
          </a:ln>
        </p:spPr>
      </p:sp>
      <p:sp>
        <p:nvSpPr>
          <p:cNvPr id="11" name="Text 9"/>
          <p:cNvSpPr txBox="1"/>
          <p:nvPr/>
        </p:nvSpPr>
        <p:spPr>
          <a:xfrm>
            <a:off x="1051560" y="3465576"/>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12" name="Text 10"/>
          <p:cNvSpPr txBox="1"/>
          <p:nvPr/>
        </p:nvSpPr>
        <p:spPr>
          <a:xfrm>
            <a:off x="1508760" y="3465576"/>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AIの処理は速いのに、前後の運搬で時間が消えています</a:t>
            </a:r>
            <a:endParaRPr lang="en-US" sz="1500" dirty="0"/>
          </a:p>
        </p:txBody>
      </p:sp>
      <p:sp>
        <p:nvSpPr>
          <p:cNvPr id="13" name="Shape 11"/>
          <p:cNvSpPr/>
          <p:nvPr/>
        </p:nvSpPr>
        <p:spPr>
          <a:xfrm>
            <a:off x="777240" y="4526280"/>
            <a:ext cx="10607040" cy="914400"/>
          </a:xfrm>
          <a:prstGeom prst="rect">
            <a:avLst/>
          </a:prstGeom>
          <a:solidFill>
            <a:srgbClr val="B04A2F"/>
          </a:solidFill>
          <a:ln w="12700">
            <a:solidFill>
              <a:srgbClr val="333333"/>
            </a:solidFill>
            <a:prstDash val="solid"/>
          </a:ln>
        </p:spPr>
      </p:sp>
      <p:sp>
        <p:nvSpPr>
          <p:cNvPr id="14" name="Text 12"/>
          <p:cNvSpPr txBox="1"/>
          <p:nvPr/>
        </p:nvSpPr>
        <p:spPr>
          <a:xfrm>
            <a:off x="1143000" y="4526280"/>
            <a:ext cx="9875520" cy="914400"/>
          </a:xfrm>
          <a:prstGeom prst="rect">
            <a:avLst/>
          </a:prstGeom>
          <a:noFill/>
          <a:ln/>
        </p:spPr>
        <p:txBody>
          <a:bodyPr wrap="square" lIns="0" tIns="0" rIns="0" bIns="0" rtlCol="0" anchor="ctr"/>
          <a:lstStyle/>
          <a:p>
            <a:pPr indent="0" marL="0">
              <a:lnSpc>
                <a:spcPct val="130000"/>
              </a:lnSpc>
              <a:buNone/>
            </a:pPr>
            <a:r>
              <a:rPr lang="en-US" sz="1800" b="1" dirty="0">
                <a:solidFill>
                  <a:srgbClr val="FFFFFF"/>
                </a:solidFill>
                <a:latin typeface="Yu Gothic" pitchFamily="34" charset="0"/>
                <a:ea typeface="Yu Gothic" pitchFamily="34" charset="-122"/>
                <a:cs typeface="Yu Gothic" pitchFamily="34" charset="-120"/>
              </a:rPr>
              <a:t>今日は、人が貼り付けている部分を消します。</a:t>
            </a:r>
            <a:endParaRPr lang="en-US" sz="1800" dirty="0"/>
          </a:p>
        </p:txBody>
      </p:sp>
      <p:sp>
        <p:nvSpPr>
          <p:cNvPr id="15" name="Text 13"/>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6" name="Text 14"/>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出発点</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今日のゴール</a:t>
            </a:r>
            <a:endParaRPr lang="en-US" sz="1100" dirty="0"/>
          </a:p>
        </p:txBody>
      </p:sp>
      <p:sp>
        <p:nvSpPr>
          <p:cNvPr id="3" name="Text 1"/>
          <p:cNvSpPr txBox="1"/>
          <p:nvPr/>
        </p:nvSpPr>
        <p:spPr>
          <a:xfrm>
            <a:off x="777240" y="1143000"/>
            <a:ext cx="9864547" cy="1645920"/>
          </a:xfrm>
          <a:prstGeom prst="rect">
            <a:avLst/>
          </a:prstGeom>
          <a:noFill/>
          <a:ln/>
        </p:spPr>
        <p:txBody>
          <a:bodyPr wrap="square" lIns="0" tIns="0" rIns="0" bIns="0" rtlCol="0" anchor="ctr"/>
          <a:lstStyle/>
          <a:p>
            <a:pPr indent="0" marL="0">
              <a:lnSpc>
                <a:spcPct val="145000"/>
              </a:lnSpc>
              <a:buNone/>
            </a:pPr>
            <a:r>
              <a:rPr lang="en-US" sz="2600" b="1" dirty="0">
                <a:solidFill>
                  <a:srgbClr val="23201D"/>
                </a:solidFill>
                <a:latin typeface="Yu Gothic" pitchFamily="34" charset="0"/>
                <a:ea typeface="Yu Gothic" pitchFamily="34" charset="-122"/>
                <a:cs typeface="Yu Gothic" pitchFamily="34" charset="-120"/>
              </a:rPr>
              <a:t>人が手でつないでいた1工程を、自動で流れる状態にします。止まったら気づけるようにします。</a:t>
            </a:r>
            <a:endParaRPr lang="en-US" sz="2600" dirty="0"/>
          </a:p>
        </p:txBody>
      </p:sp>
      <p:sp>
        <p:nvSpPr>
          <p:cNvPr id="4" name="Shape 2"/>
          <p:cNvSpPr/>
          <p:nvPr/>
        </p:nvSpPr>
        <p:spPr>
          <a:xfrm>
            <a:off x="777240" y="3063240"/>
            <a:ext cx="10607040" cy="18288"/>
          </a:xfrm>
          <a:prstGeom prst="rect">
            <a:avLst/>
          </a:prstGeom>
          <a:solidFill>
            <a:srgbClr val="EDE7DB"/>
          </a:solidFill>
          <a:ln w="12700">
            <a:solidFill>
              <a:srgbClr val="333333"/>
            </a:solidFill>
            <a:prstDash val="solid"/>
          </a:ln>
        </p:spPr>
      </p:sp>
      <p:sp>
        <p:nvSpPr>
          <p:cNvPr id="5" name="Text 3"/>
          <p:cNvSpPr txBox="1"/>
          <p:nvPr/>
        </p:nvSpPr>
        <p:spPr>
          <a:xfrm>
            <a:off x="777240" y="3291840"/>
            <a:ext cx="9334195" cy="1005840"/>
          </a:xfrm>
          <a:prstGeom prst="rect">
            <a:avLst/>
          </a:prstGeom>
          <a:noFill/>
          <a:ln/>
        </p:spPr>
        <p:txBody>
          <a:bodyPr wrap="square" lIns="0" tIns="0" rIns="0" bIns="0" rtlCol="0" anchor="ctr"/>
          <a:lstStyle/>
          <a:p>
            <a:pPr indent="0" marL="0">
              <a:lnSpc>
                <a:spcPct val="140000"/>
              </a:lnSpc>
              <a:buNone/>
            </a:pPr>
            <a:r>
              <a:rPr lang="en-US" sz="1450" dirty="0">
                <a:solidFill>
                  <a:srgbClr val="5A534A"/>
                </a:solidFill>
                <a:latin typeface="Yu Gothic" pitchFamily="34" charset="0"/>
                <a:ea typeface="Yu Gothic" pitchFamily="34" charset="-122"/>
                <a:cs typeface="Yu Gothic" pitchFamily="34" charset="-120"/>
              </a:rPr>
              <a:t>ここから上級編です。抽象度は上がりますが、進め方は変えません。今日もその場で1本動かします。</a:t>
            </a:r>
            <a:endParaRPr lang="en-US" sz="1450" dirty="0"/>
          </a:p>
        </p:txBody>
      </p:sp>
      <p:sp>
        <p:nvSpPr>
          <p:cNvPr id="6" name="Shape 4"/>
          <p:cNvSpPr/>
          <p:nvPr/>
        </p:nvSpPr>
        <p:spPr>
          <a:xfrm>
            <a:off x="777240" y="4754880"/>
            <a:ext cx="10607040" cy="822960"/>
          </a:xfrm>
          <a:prstGeom prst="rect">
            <a:avLst/>
          </a:prstGeom>
          <a:solidFill>
            <a:srgbClr val="EDE7DB"/>
          </a:solidFill>
          <a:ln w="12700">
            <a:solidFill>
              <a:srgbClr val="333333"/>
            </a:solidFill>
            <a:prstDash val="solid"/>
          </a:ln>
        </p:spPr>
      </p:sp>
      <p:sp>
        <p:nvSpPr>
          <p:cNvPr id="7" name="Text 5"/>
          <p:cNvSpPr txBox="1"/>
          <p:nvPr/>
        </p:nvSpPr>
        <p:spPr>
          <a:xfrm>
            <a:off x="960120"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0-15分</a:t>
            </a:r>
            <a:endParaRPr lang="en-US" sz="900" dirty="0"/>
          </a:p>
        </p:txBody>
      </p:sp>
      <p:sp>
        <p:nvSpPr>
          <p:cNvPr id="8" name="Text 6"/>
          <p:cNvSpPr txBox="1"/>
          <p:nvPr/>
        </p:nvSpPr>
        <p:spPr>
          <a:xfrm>
            <a:off x="960120"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前回の宿題を実物で</a:t>
            </a:r>
            <a:endParaRPr lang="en-US" sz="1100" dirty="0"/>
          </a:p>
        </p:txBody>
      </p:sp>
      <p:sp>
        <p:nvSpPr>
          <p:cNvPr id="9" name="Text 7"/>
          <p:cNvSpPr txBox="1"/>
          <p:nvPr/>
        </p:nvSpPr>
        <p:spPr>
          <a:xfrm>
            <a:off x="3008376"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15-35分</a:t>
            </a:r>
            <a:endParaRPr lang="en-US" sz="900" dirty="0"/>
          </a:p>
        </p:txBody>
      </p:sp>
      <p:sp>
        <p:nvSpPr>
          <p:cNvPr id="10" name="Text 8"/>
          <p:cNvSpPr txBox="1"/>
          <p:nvPr/>
        </p:nvSpPr>
        <p:spPr>
          <a:xfrm>
            <a:off x="3008376"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テーマとデモ</a:t>
            </a:r>
            <a:endParaRPr lang="en-US" sz="1100" dirty="0"/>
          </a:p>
        </p:txBody>
      </p:sp>
      <p:sp>
        <p:nvSpPr>
          <p:cNvPr id="11" name="Text 9"/>
          <p:cNvSpPr txBox="1"/>
          <p:nvPr/>
        </p:nvSpPr>
        <p:spPr>
          <a:xfrm>
            <a:off x="5056632"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35-90分</a:t>
            </a:r>
            <a:endParaRPr lang="en-US" sz="900" dirty="0"/>
          </a:p>
        </p:txBody>
      </p:sp>
      <p:sp>
        <p:nvSpPr>
          <p:cNvPr id="12" name="Text 10"/>
          <p:cNvSpPr txBox="1"/>
          <p:nvPr/>
        </p:nvSpPr>
        <p:spPr>
          <a:xfrm>
            <a:off x="5056632"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一緒に手を動かす</a:t>
            </a:r>
            <a:endParaRPr lang="en-US" sz="1100" dirty="0"/>
          </a:p>
        </p:txBody>
      </p:sp>
      <p:sp>
        <p:nvSpPr>
          <p:cNvPr id="13" name="Text 11"/>
          <p:cNvSpPr txBox="1"/>
          <p:nvPr/>
        </p:nvSpPr>
        <p:spPr>
          <a:xfrm>
            <a:off x="7104888"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90-105分</a:t>
            </a:r>
            <a:endParaRPr lang="en-US" sz="900" dirty="0"/>
          </a:p>
        </p:txBody>
      </p:sp>
      <p:sp>
        <p:nvSpPr>
          <p:cNvPr id="14" name="Text 12"/>
          <p:cNvSpPr txBox="1"/>
          <p:nvPr/>
        </p:nvSpPr>
        <p:spPr>
          <a:xfrm>
            <a:off x="7104888"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業務への組み込み</a:t>
            </a:r>
            <a:endParaRPr lang="en-US" sz="1100" dirty="0"/>
          </a:p>
        </p:txBody>
      </p:sp>
      <p:sp>
        <p:nvSpPr>
          <p:cNvPr id="15" name="Text 13"/>
          <p:cNvSpPr txBox="1"/>
          <p:nvPr/>
        </p:nvSpPr>
        <p:spPr>
          <a:xfrm>
            <a:off x="9153144"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105-120分</a:t>
            </a:r>
            <a:endParaRPr lang="en-US" sz="900" dirty="0"/>
          </a:p>
        </p:txBody>
      </p:sp>
      <p:sp>
        <p:nvSpPr>
          <p:cNvPr id="16" name="Text 14"/>
          <p:cNvSpPr txBox="1"/>
          <p:nvPr/>
        </p:nvSpPr>
        <p:spPr>
          <a:xfrm>
            <a:off x="9153144"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宿題・記録</a:t>
            </a:r>
            <a:endParaRPr lang="en-US" sz="110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ゴール</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考え方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自動化してよい工程の3条件</a:t>
            </a:r>
            <a:endParaRPr lang="en-US" sz="2600" dirty="0"/>
          </a:p>
        </p:txBody>
      </p:sp>
      <p:sp>
        <p:nvSpPr>
          <p:cNvPr id="4" name="Shape 2"/>
          <p:cNvSpPr/>
          <p:nvPr/>
        </p:nvSpPr>
        <p:spPr>
          <a:xfrm>
            <a:off x="777240" y="1700784"/>
            <a:ext cx="10607040" cy="1188720"/>
          </a:xfrm>
          <a:prstGeom prst="rect">
            <a:avLst/>
          </a:prstGeom>
          <a:solidFill>
            <a:srgbClr val="FFFFFF"/>
          </a:solidFill>
          <a:ln w="12700">
            <a:solidFill>
              <a:srgbClr val="EDE7DB"/>
            </a:solidFill>
            <a:prstDash val="solid"/>
          </a:ln>
        </p:spPr>
      </p:sp>
      <p:sp>
        <p:nvSpPr>
          <p:cNvPr id="5" name="Shape 3"/>
          <p:cNvSpPr/>
          <p:nvPr/>
        </p:nvSpPr>
        <p:spPr>
          <a:xfrm>
            <a:off x="1014984" y="2112264"/>
            <a:ext cx="365760" cy="365760"/>
          </a:xfrm>
          <a:prstGeom prst="ellipse">
            <a:avLst/>
          </a:prstGeom>
          <a:solidFill>
            <a:srgbClr val="B04A2F"/>
          </a:solidFill>
          <a:ln w="12700">
            <a:solidFill>
              <a:srgbClr val="333333"/>
            </a:solidFill>
            <a:prstDash val="solid"/>
          </a:ln>
        </p:spPr>
      </p:sp>
      <p:sp>
        <p:nvSpPr>
          <p:cNvPr id="6" name="Text 4"/>
          <p:cNvSpPr txBox="1"/>
          <p:nvPr/>
        </p:nvSpPr>
        <p:spPr>
          <a:xfrm>
            <a:off x="1014984" y="211226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600200" y="1773936"/>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判断が入らない</a:t>
            </a:r>
            <a:endParaRPr lang="en-US" sz="1450" dirty="0"/>
          </a:p>
        </p:txBody>
      </p:sp>
      <p:sp>
        <p:nvSpPr>
          <p:cNvPr id="8" name="Text 6"/>
          <p:cNvSpPr txBox="1"/>
          <p:nvPr/>
        </p:nvSpPr>
        <p:spPr>
          <a:xfrm>
            <a:off x="4888382" y="1773936"/>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転記・通知・保存・形式変換。考えずに済むもの</a:t>
            </a:r>
            <a:endParaRPr lang="en-US" sz="1200" dirty="0"/>
          </a:p>
        </p:txBody>
      </p:sp>
      <p:sp>
        <p:nvSpPr>
          <p:cNvPr id="9" name="Shape 7"/>
          <p:cNvSpPr/>
          <p:nvPr/>
        </p:nvSpPr>
        <p:spPr>
          <a:xfrm>
            <a:off x="777240" y="3017520"/>
            <a:ext cx="10607040" cy="1188720"/>
          </a:xfrm>
          <a:prstGeom prst="rect">
            <a:avLst/>
          </a:prstGeom>
          <a:solidFill>
            <a:srgbClr val="FFFFFF"/>
          </a:solidFill>
          <a:ln w="12700">
            <a:solidFill>
              <a:srgbClr val="EDE7DB"/>
            </a:solidFill>
            <a:prstDash val="solid"/>
          </a:ln>
        </p:spPr>
      </p:sp>
      <p:sp>
        <p:nvSpPr>
          <p:cNvPr id="10" name="Shape 8"/>
          <p:cNvSpPr/>
          <p:nvPr/>
        </p:nvSpPr>
        <p:spPr>
          <a:xfrm>
            <a:off x="1014984" y="3429000"/>
            <a:ext cx="365760" cy="365760"/>
          </a:xfrm>
          <a:prstGeom prst="ellipse">
            <a:avLst/>
          </a:prstGeom>
          <a:solidFill>
            <a:srgbClr val="B04A2F"/>
          </a:solidFill>
          <a:ln w="12700">
            <a:solidFill>
              <a:srgbClr val="333333"/>
            </a:solidFill>
            <a:prstDash val="solid"/>
          </a:ln>
        </p:spPr>
      </p:sp>
      <p:sp>
        <p:nvSpPr>
          <p:cNvPr id="11" name="Text 9"/>
          <p:cNvSpPr txBox="1"/>
          <p:nvPr/>
        </p:nvSpPr>
        <p:spPr>
          <a:xfrm>
            <a:off x="1014984"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txBox="1"/>
          <p:nvPr/>
        </p:nvSpPr>
        <p:spPr>
          <a:xfrm>
            <a:off x="1600200" y="3090672"/>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間違えても取り返しがつく</a:t>
            </a:r>
            <a:endParaRPr lang="en-US" sz="1450" dirty="0"/>
          </a:p>
        </p:txBody>
      </p:sp>
      <p:sp>
        <p:nvSpPr>
          <p:cNvPr id="13" name="Text 11"/>
          <p:cNvSpPr txBox="1"/>
          <p:nvPr/>
        </p:nvSpPr>
        <p:spPr>
          <a:xfrm>
            <a:off x="4888382" y="3090672"/>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送信済みのメールは取り返しがつきません</a:t>
            </a:r>
            <a:endParaRPr lang="en-US" sz="1200" dirty="0"/>
          </a:p>
        </p:txBody>
      </p:sp>
      <p:sp>
        <p:nvSpPr>
          <p:cNvPr id="14" name="Shape 12"/>
          <p:cNvSpPr/>
          <p:nvPr/>
        </p:nvSpPr>
        <p:spPr>
          <a:xfrm>
            <a:off x="777240" y="4334256"/>
            <a:ext cx="10607040" cy="1188720"/>
          </a:xfrm>
          <a:prstGeom prst="rect">
            <a:avLst/>
          </a:prstGeom>
          <a:solidFill>
            <a:srgbClr val="FFFFFF"/>
          </a:solidFill>
          <a:ln w="12700">
            <a:solidFill>
              <a:srgbClr val="EDE7DB"/>
            </a:solidFill>
            <a:prstDash val="solid"/>
          </a:ln>
        </p:spPr>
      </p:sp>
      <p:sp>
        <p:nvSpPr>
          <p:cNvPr id="15" name="Shape 13"/>
          <p:cNvSpPr/>
          <p:nvPr/>
        </p:nvSpPr>
        <p:spPr>
          <a:xfrm>
            <a:off x="1014984" y="4745736"/>
            <a:ext cx="365760" cy="365760"/>
          </a:xfrm>
          <a:prstGeom prst="ellipse">
            <a:avLst/>
          </a:prstGeom>
          <a:solidFill>
            <a:srgbClr val="B04A2F"/>
          </a:solidFill>
          <a:ln w="12700">
            <a:solidFill>
              <a:srgbClr val="333333"/>
            </a:solidFill>
            <a:prstDash val="solid"/>
          </a:ln>
        </p:spPr>
      </p:sp>
      <p:sp>
        <p:nvSpPr>
          <p:cNvPr id="16" name="Text 14"/>
          <p:cNvSpPr txBox="1"/>
          <p:nvPr/>
        </p:nvSpPr>
        <p:spPr>
          <a:xfrm>
            <a:off x="1014984" y="474573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7" name="Text 15"/>
          <p:cNvSpPr txBox="1"/>
          <p:nvPr/>
        </p:nvSpPr>
        <p:spPr>
          <a:xfrm>
            <a:off x="1600200" y="4407408"/>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月に何度も起きる</a:t>
            </a:r>
            <a:endParaRPr lang="en-US" sz="1450" dirty="0"/>
          </a:p>
        </p:txBody>
      </p:sp>
      <p:sp>
        <p:nvSpPr>
          <p:cNvPr id="18" name="Text 16"/>
          <p:cNvSpPr txBox="1"/>
          <p:nvPr/>
        </p:nvSpPr>
        <p:spPr>
          <a:xfrm>
            <a:off x="4888382" y="4407408"/>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年1回の作業を自動化するのは趣味です</a:t>
            </a:r>
            <a:endParaRPr lang="en-US" sz="1200" dirty="0"/>
          </a:p>
        </p:txBody>
      </p:sp>
      <p:sp>
        <p:nvSpPr>
          <p:cNvPr id="19" name="Text 17"/>
          <p:cNvSpPr txBox="1"/>
          <p:nvPr/>
        </p:nvSpPr>
        <p:spPr>
          <a:xfrm>
            <a:off x="777240" y="5669280"/>
            <a:ext cx="10607040" cy="411480"/>
          </a:xfrm>
          <a:prstGeom prst="rect">
            <a:avLst/>
          </a:prstGeom>
          <a:noFill/>
          <a:ln/>
        </p:spPr>
        <p:txBody>
          <a:bodyPr wrap="square" lIns="0" tIns="0" rIns="0" bIns="0" rtlCol="0" anchor="ctr"/>
          <a:lstStyle/>
          <a:p>
            <a:pPr indent="0" marL="0">
              <a:buNone/>
            </a:pPr>
            <a:r>
              <a:rPr lang="en-US" sz="1200" b="1" dirty="0">
                <a:solidFill>
                  <a:srgbClr val="B04A2F"/>
                </a:solidFill>
                <a:latin typeface="Yu Gothic" pitchFamily="34" charset="0"/>
                <a:ea typeface="Yu Gothic" pitchFamily="34" charset="-122"/>
                <a:cs typeface="Yu Gothic" pitchFamily="34" charset="-120"/>
              </a:rPr>
              <a:t>1つでも欠けたら「下書きまで自動・実行は人」に設計します。全部を自動にしないことが、長く使うコツです。</a:t>
            </a:r>
            <a:endParaRPr lang="en-US" sz="120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考え方</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あてはめ</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最初の1本は、これくらいの大きさで</a:t>
            </a:r>
            <a:endParaRPr lang="en-US" sz="2600" dirty="0"/>
          </a:p>
        </p:txBody>
      </p:sp>
      <p:sp>
        <p:nvSpPr>
          <p:cNvPr id="4" name="Shape 2"/>
          <p:cNvSpPr/>
          <p:nvPr/>
        </p:nvSpPr>
        <p:spPr>
          <a:xfrm>
            <a:off x="777240" y="1691640"/>
            <a:ext cx="10607040" cy="3931920"/>
          </a:xfrm>
          <a:prstGeom prst="rect">
            <a:avLst/>
          </a:prstGeom>
          <a:solidFill>
            <a:srgbClr val="FFFFFF"/>
          </a:solidFill>
          <a:ln w="15875">
            <a:solidFill>
              <a:srgbClr val="2F4F6B"/>
            </a:solidFill>
            <a:prstDash val="solid"/>
          </a:ln>
        </p:spPr>
      </p:sp>
      <p:sp>
        <p:nvSpPr>
          <p:cNvPr id="5" name="Shape 3"/>
          <p:cNvSpPr/>
          <p:nvPr/>
        </p:nvSpPr>
        <p:spPr>
          <a:xfrm>
            <a:off x="777240" y="1691640"/>
            <a:ext cx="10607040" cy="457200"/>
          </a:xfrm>
          <a:prstGeom prst="rect">
            <a:avLst/>
          </a:prstGeom>
          <a:solidFill>
            <a:srgbClr val="2F4F6B"/>
          </a:solidFill>
          <a:ln w="12700">
            <a:solidFill>
              <a:srgbClr val="333333"/>
            </a:solidFill>
            <a:prstDash val="solid"/>
          </a:ln>
        </p:spPr>
      </p:sp>
      <p:sp>
        <p:nvSpPr>
          <p:cNvPr id="6" name="Text 4"/>
          <p:cNvSpPr txBox="1"/>
          <p:nvPr/>
        </p:nvSpPr>
        <p:spPr>
          <a:xfrm>
            <a:off x="1051560" y="1709928"/>
            <a:ext cx="10058400" cy="42062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自動化フロー（記入例：問い合わせ対応）</a:t>
            </a:r>
            <a:endParaRPr lang="en-US" sz="1200" dirty="0"/>
          </a:p>
        </p:txBody>
      </p:sp>
      <p:sp>
        <p:nvSpPr>
          <p:cNvPr id="7" name="Text 5"/>
          <p:cNvSpPr txBox="1"/>
          <p:nvPr/>
        </p:nvSpPr>
        <p:spPr>
          <a:xfrm>
            <a:off x="1097280" y="233172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起点</a:t>
            </a:r>
            <a:endParaRPr lang="en-US" sz="1100" dirty="0"/>
          </a:p>
        </p:txBody>
      </p:sp>
      <p:sp>
        <p:nvSpPr>
          <p:cNvPr id="8" name="Text 6"/>
          <p:cNvSpPr txBox="1"/>
          <p:nvPr/>
        </p:nvSpPr>
        <p:spPr>
          <a:xfrm>
            <a:off x="3291840" y="233172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問い合わせフォームに入力があったとき</a:t>
            </a:r>
            <a:endParaRPr lang="en-US" sz="1150" dirty="0"/>
          </a:p>
        </p:txBody>
      </p:sp>
      <p:sp>
        <p:nvSpPr>
          <p:cNvPr id="9" name="Text 7"/>
          <p:cNvSpPr txBox="1"/>
          <p:nvPr/>
        </p:nvSpPr>
        <p:spPr>
          <a:xfrm>
            <a:off x="1097280" y="2862072"/>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工程1</a:t>
            </a:r>
            <a:endParaRPr lang="en-US" sz="1100" dirty="0"/>
          </a:p>
        </p:txBody>
      </p:sp>
      <p:sp>
        <p:nvSpPr>
          <p:cNvPr id="10" name="Text 8"/>
          <p:cNvSpPr txBox="1"/>
          <p:nvPr/>
        </p:nvSpPr>
        <p:spPr>
          <a:xfrm>
            <a:off x="3291840" y="2862072"/>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AIが内容を分類・要約する（判断は入れない）</a:t>
            </a:r>
            <a:endParaRPr lang="en-US" sz="1150" dirty="0"/>
          </a:p>
        </p:txBody>
      </p:sp>
      <p:sp>
        <p:nvSpPr>
          <p:cNvPr id="11" name="Text 9"/>
          <p:cNvSpPr txBox="1"/>
          <p:nvPr/>
        </p:nvSpPr>
        <p:spPr>
          <a:xfrm>
            <a:off x="1097280" y="3392424"/>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工程2</a:t>
            </a:r>
            <a:endParaRPr lang="en-US" sz="1100" dirty="0"/>
          </a:p>
        </p:txBody>
      </p:sp>
      <p:sp>
        <p:nvSpPr>
          <p:cNvPr id="12" name="Text 10"/>
          <p:cNvSpPr txBox="1"/>
          <p:nvPr/>
        </p:nvSpPr>
        <p:spPr>
          <a:xfrm>
            <a:off x="3291840" y="3392424"/>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スプレッドシートに1行記録する</a:t>
            </a:r>
            <a:endParaRPr lang="en-US" sz="1150" dirty="0"/>
          </a:p>
        </p:txBody>
      </p:sp>
      <p:sp>
        <p:nvSpPr>
          <p:cNvPr id="13" name="Text 11"/>
          <p:cNvSpPr txBox="1"/>
          <p:nvPr/>
        </p:nvSpPr>
        <p:spPr>
          <a:xfrm>
            <a:off x="1097280" y="3922776"/>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工程3</a:t>
            </a:r>
            <a:endParaRPr lang="en-US" sz="1100" dirty="0"/>
          </a:p>
        </p:txBody>
      </p:sp>
      <p:sp>
        <p:nvSpPr>
          <p:cNvPr id="14" name="Text 12"/>
          <p:cNvSpPr txBox="1"/>
          <p:nvPr/>
        </p:nvSpPr>
        <p:spPr>
          <a:xfrm>
            <a:off x="3291840" y="3922776"/>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担当者にチャットで通知する</a:t>
            </a:r>
            <a:endParaRPr lang="en-US" sz="1150" dirty="0"/>
          </a:p>
        </p:txBody>
      </p:sp>
      <p:sp>
        <p:nvSpPr>
          <p:cNvPr id="15" name="Text 13"/>
          <p:cNvSpPr txBox="1"/>
          <p:nvPr/>
        </p:nvSpPr>
        <p:spPr>
          <a:xfrm>
            <a:off x="1097280" y="4453128"/>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人がやること</a:t>
            </a:r>
            <a:endParaRPr lang="en-US" sz="1100" dirty="0"/>
          </a:p>
        </p:txBody>
      </p:sp>
      <p:sp>
        <p:nvSpPr>
          <p:cNvPr id="16" name="Text 14"/>
          <p:cNvSpPr txBox="1"/>
          <p:nvPr/>
        </p:nvSpPr>
        <p:spPr>
          <a:xfrm>
            <a:off x="3291840" y="4453128"/>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内容を読んで、返信するかどうかを決める</a:t>
            </a:r>
            <a:endParaRPr lang="en-US" sz="1150" dirty="0"/>
          </a:p>
        </p:txBody>
      </p:sp>
      <p:sp>
        <p:nvSpPr>
          <p:cNvPr id="17" name="Text 15"/>
          <p:cNvSpPr txBox="1"/>
          <p:nvPr/>
        </p:nvSpPr>
        <p:spPr>
          <a:xfrm>
            <a:off x="1097280" y="498348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止まったら</a:t>
            </a:r>
            <a:endParaRPr lang="en-US" sz="1100" dirty="0"/>
          </a:p>
        </p:txBody>
      </p:sp>
      <p:sp>
        <p:nvSpPr>
          <p:cNvPr id="18" name="Text 16"/>
          <p:cNvSpPr txBox="1"/>
          <p:nvPr/>
        </p:nvSpPr>
        <p:spPr>
          <a:xfrm>
            <a:off x="3291840" y="498348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3日記録がなければ、社長に通知が飛ぶ</a:t>
            </a:r>
            <a:endParaRPr lang="en-US" sz="1150" dirty="0"/>
          </a:p>
        </p:txBody>
      </p:sp>
      <p:sp>
        <p:nvSpPr>
          <p:cNvPr id="19" name="Text 17"/>
          <p:cNvSpPr txBox="1"/>
          <p:nvPr/>
        </p:nvSpPr>
        <p:spPr>
          <a:xfrm>
            <a:off x="777240" y="5769864"/>
            <a:ext cx="10607040" cy="548640"/>
          </a:xfrm>
          <a:prstGeom prst="rect">
            <a:avLst/>
          </a:prstGeom>
          <a:noFill/>
          <a:ln/>
        </p:spPr>
        <p:txBody>
          <a:bodyPr wrap="square" lIns="0" tIns="0" rIns="0" bIns="0" rtlCol="0" anchor="ctr"/>
          <a:lstStyle/>
          <a:p>
            <a:pPr indent="0" marL="0">
              <a:lnSpc>
                <a:spcPct val="135000"/>
              </a:lnSpc>
              <a:buNone/>
            </a:pPr>
            <a:r>
              <a:rPr lang="en-US" sz="1250" dirty="0">
                <a:solidFill>
                  <a:srgbClr val="5A534A"/>
                </a:solidFill>
                <a:latin typeface="Yu Gothic" pitchFamily="34" charset="0"/>
                <a:ea typeface="Yu Gothic" pitchFamily="34" charset="-122"/>
                <a:cs typeface="Yu Gothic" pitchFamily="34" charset="-120"/>
              </a:rPr>
              <a:t>返信そのものは自動化しません。社外に出るものは人が出す、という線をここで引いておきます。</a:t>
            </a:r>
            <a:endParaRPr lang="en-US" sz="12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あてはめ</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実演 ①</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やりがちな自動化</a:t>
            </a:r>
            <a:endParaRPr lang="en-US" sz="2600" dirty="0"/>
          </a:p>
        </p:txBody>
      </p:sp>
      <p:sp>
        <p:nvSpPr>
          <p:cNvPr id="4" name="Shape 2"/>
          <p:cNvSpPr/>
          <p:nvPr/>
        </p:nvSpPr>
        <p:spPr>
          <a:xfrm>
            <a:off x="777240" y="1691640"/>
            <a:ext cx="4879238" cy="1371600"/>
          </a:xfrm>
          <a:prstGeom prst="rect">
            <a:avLst/>
          </a:prstGeom>
          <a:solidFill>
            <a:srgbClr val="EDE7DB"/>
          </a:solidFill>
          <a:ln w="15875">
            <a:solidFill>
              <a:srgbClr val="8A8177"/>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「受注メールが来たら、自動で返信まで出す」</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・最初の1週間は順調に動く</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・ある日、想定外の文面のメールが来る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・誤った内容の返信が、そのまま顧客に届く</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・以後、社内で自動化の話ができなくなる</a:t>
            </a:r>
            <a:endParaRPr lang="en-US" sz="1250" dirty="0"/>
          </a:p>
        </p:txBody>
      </p:sp>
      <p:sp>
        <p:nvSpPr>
          <p:cNvPr id="13" name="Shape 11"/>
          <p:cNvSpPr/>
          <p:nvPr/>
        </p:nvSpPr>
        <p:spPr>
          <a:xfrm>
            <a:off x="777240" y="3291840"/>
            <a:ext cx="4879238" cy="1417320"/>
          </a:xfrm>
          <a:prstGeom prst="rect">
            <a:avLst/>
          </a:prstGeom>
          <a:solidFill>
            <a:srgbClr val="E4DFD5"/>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自動化は必ず止まります。止まること自体は問題ではなく、止まったことに気づけないことが問題です。</a:t>
            </a:r>
            <a:endParaRPr lang="en-US" sz="1250" dirty="0"/>
          </a:p>
        </p:txBody>
      </p:sp>
      <p:sp>
        <p:nvSpPr>
          <p:cNvPr id="15" name="Shape 13"/>
          <p:cNvSpPr/>
          <p:nvPr/>
        </p:nvSpPr>
        <p:spPr>
          <a:xfrm>
            <a:off x="777240" y="4983480"/>
            <a:ext cx="10607040" cy="685800"/>
          </a:xfrm>
          <a:prstGeom prst="rect">
            <a:avLst/>
          </a:prstGeom>
          <a:solidFill>
            <a:srgbClr val="8A8177"/>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社外に出る工程を自動化すると、事故が外に出ます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①</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実演 ②</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止まる前提で組む</a:t>
            </a:r>
            <a:endParaRPr lang="en-US" sz="2600" dirty="0"/>
          </a:p>
        </p:txBody>
      </p:sp>
      <p:sp>
        <p:nvSpPr>
          <p:cNvPr id="4" name="Shape 2"/>
          <p:cNvSpPr/>
          <p:nvPr/>
        </p:nvSpPr>
        <p:spPr>
          <a:xfrm>
            <a:off x="777240" y="1691640"/>
            <a:ext cx="4879238" cy="1371600"/>
          </a:xfrm>
          <a:prstGeom prst="rect">
            <a:avLst/>
          </a:prstGeom>
          <a:solidFill>
            <a:srgbClr val="FFFFFF"/>
          </a:solidFill>
          <a:ln w="15875">
            <a:solidFill>
              <a:srgbClr val="3B6B4A"/>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3B6B4A"/>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「下書きまで自動。送信は人。止まったら通知」</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・人は確認と送信だけになる</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・止まれば通知が来るので、気づける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・手動に戻す手順が書いてあるので、業務は死なない</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・安心して運用を続けられる</a:t>
            </a:r>
            <a:endParaRPr lang="en-US" sz="1250" dirty="0"/>
          </a:p>
        </p:txBody>
      </p:sp>
      <p:sp>
        <p:nvSpPr>
          <p:cNvPr id="13" name="Shape 11"/>
          <p:cNvSpPr/>
          <p:nvPr/>
        </p:nvSpPr>
        <p:spPr>
          <a:xfrm>
            <a:off x="777240" y="3291840"/>
            <a:ext cx="4879238" cy="1417320"/>
          </a:xfrm>
          <a:prstGeom prst="rect">
            <a:avLst/>
          </a:prstGeom>
          <a:solidFill>
            <a:srgbClr val="E7F0E9"/>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通知と手動の代替手順。この2つが入っていない自動化は、作らないほうがましです。</a:t>
            </a:r>
            <a:endParaRPr lang="en-US" sz="1250" dirty="0"/>
          </a:p>
        </p:txBody>
      </p:sp>
      <p:sp>
        <p:nvSpPr>
          <p:cNvPr id="15" name="Shape 13"/>
          <p:cNvSpPr/>
          <p:nvPr/>
        </p:nvSpPr>
        <p:spPr>
          <a:xfrm>
            <a:off x="777240" y="4983480"/>
            <a:ext cx="10607040" cy="685800"/>
          </a:xfrm>
          <a:prstGeom prst="rect">
            <a:avLst/>
          </a:prstGeom>
          <a:solidFill>
            <a:srgbClr val="3B6B4A"/>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気づける自動化だけが、業務に載せられます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②</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つまずきやすいところ</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この回で、よく起きること</a:t>
            </a:r>
            <a:endParaRPr lang="en-US" sz="2600" dirty="0"/>
          </a:p>
        </p:txBody>
      </p:sp>
      <p:sp>
        <p:nvSpPr>
          <p:cNvPr id="4" name="Shape 2"/>
          <p:cNvSpPr/>
          <p:nvPr/>
        </p:nvSpPr>
        <p:spPr>
          <a:xfrm>
            <a:off x="777240" y="173736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51560" y="1856232"/>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6" name="Text 4"/>
          <p:cNvSpPr txBox="1"/>
          <p:nvPr/>
        </p:nvSpPr>
        <p:spPr>
          <a:xfrm>
            <a:off x="1051560" y="2121408"/>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権限がなくて設定できない（情シスや外部ベンダー管理）</a:t>
            </a:r>
            <a:endParaRPr lang="en-US" sz="1350" dirty="0"/>
          </a:p>
        </p:txBody>
      </p:sp>
      <p:sp>
        <p:nvSpPr>
          <p:cNvPr id="7" name="Shape 5"/>
          <p:cNvSpPr/>
          <p:nvPr/>
        </p:nvSpPr>
        <p:spPr>
          <a:xfrm>
            <a:off x="5762549" y="1847088"/>
            <a:ext cx="18288" cy="859536"/>
          </a:xfrm>
          <a:prstGeom prst="rect">
            <a:avLst/>
          </a:prstGeom>
          <a:solidFill>
            <a:srgbClr val="EDE7DB"/>
          </a:solidFill>
          <a:ln w="12700">
            <a:solidFill>
              <a:srgbClr val="333333"/>
            </a:solidFill>
            <a:prstDash val="solid"/>
          </a:ln>
        </p:spPr>
      </p:sp>
      <p:sp>
        <p:nvSpPr>
          <p:cNvPr id="8" name="Text 6"/>
          <p:cNvSpPr txBox="1"/>
          <p:nvPr/>
        </p:nvSpPr>
        <p:spPr>
          <a:xfrm>
            <a:off x="6080760" y="1856232"/>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9" name="Text 7"/>
          <p:cNvSpPr txBox="1"/>
          <p:nvPr/>
        </p:nvSpPr>
        <p:spPr>
          <a:xfrm>
            <a:off x="6080760" y="2121408"/>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事故ではなく発見です。第11回の権限管理の題材として記録し、その場は講師の環境でデモに切り替えます</a:t>
            </a:r>
            <a:endParaRPr lang="en-US" sz="1250" dirty="0"/>
          </a:p>
        </p:txBody>
      </p:sp>
      <p:sp>
        <p:nvSpPr>
          <p:cNvPr id="10" name="Shape 8"/>
          <p:cNvSpPr/>
          <p:nvPr/>
        </p:nvSpPr>
        <p:spPr>
          <a:xfrm>
            <a:off x="777240" y="2944368"/>
            <a:ext cx="10607040" cy="1078992"/>
          </a:xfrm>
          <a:prstGeom prst="rect">
            <a:avLst/>
          </a:prstGeom>
          <a:solidFill>
            <a:srgbClr val="FFFFFF"/>
          </a:solidFill>
          <a:ln w="12700">
            <a:solidFill>
              <a:srgbClr val="EDE7DB"/>
            </a:solidFill>
            <a:prstDash val="solid"/>
          </a:ln>
        </p:spPr>
      </p:sp>
      <p:sp>
        <p:nvSpPr>
          <p:cNvPr id="11" name="Text 9"/>
          <p:cNvSpPr txBox="1"/>
          <p:nvPr/>
        </p:nvSpPr>
        <p:spPr>
          <a:xfrm>
            <a:off x="1051560" y="3063240"/>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2" name="Text 10"/>
          <p:cNvSpPr txBox="1"/>
          <p:nvPr/>
        </p:nvSpPr>
        <p:spPr>
          <a:xfrm>
            <a:off x="1051560" y="3328416"/>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組んだものが動かない</a:t>
            </a:r>
            <a:endParaRPr lang="en-US" sz="1350" dirty="0"/>
          </a:p>
        </p:txBody>
      </p:sp>
      <p:sp>
        <p:nvSpPr>
          <p:cNvPr id="13" name="Shape 11"/>
          <p:cNvSpPr/>
          <p:nvPr/>
        </p:nvSpPr>
        <p:spPr>
          <a:xfrm>
            <a:off x="5762549" y="3054096"/>
            <a:ext cx="18288" cy="859536"/>
          </a:xfrm>
          <a:prstGeom prst="rect">
            <a:avLst/>
          </a:prstGeom>
          <a:solidFill>
            <a:srgbClr val="EDE7DB"/>
          </a:solidFill>
          <a:ln w="12700">
            <a:solidFill>
              <a:srgbClr val="333333"/>
            </a:solidFill>
            <a:prstDash val="solid"/>
          </a:ln>
        </p:spPr>
      </p:sp>
      <p:sp>
        <p:nvSpPr>
          <p:cNvPr id="14" name="Text 12"/>
          <p:cNvSpPr txBox="1"/>
          <p:nvPr/>
        </p:nvSpPr>
        <p:spPr>
          <a:xfrm>
            <a:off x="6080760" y="306324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15" name="Text 13"/>
          <p:cNvSpPr txBox="1"/>
          <p:nvPr/>
        </p:nvSpPr>
        <p:spPr>
          <a:xfrm>
            <a:off x="6080760" y="3328416"/>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講師にも分からないことはあります。その場で調べる姿を見せてください。それ自体がAI時代の仕事の実演になります</a:t>
            </a:r>
            <a:endParaRPr lang="en-US" sz="1250" dirty="0"/>
          </a:p>
        </p:txBody>
      </p:sp>
      <p:sp>
        <p:nvSpPr>
          <p:cNvPr id="16" name="Shape 14"/>
          <p:cNvSpPr/>
          <p:nvPr/>
        </p:nvSpPr>
        <p:spPr>
          <a:xfrm>
            <a:off x="777240" y="4151376"/>
            <a:ext cx="10607040" cy="1078992"/>
          </a:xfrm>
          <a:prstGeom prst="rect">
            <a:avLst/>
          </a:prstGeom>
          <a:solidFill>
            <a:srgbClr val="FFFFFF"/>
          </a:solidFill>
          <a:ln w="12700">
            <a:solidFill>
              <a:srgbClr val="EDE7DB"/>
            </a:solidFill>
            <a:prstDash val="solid"/>
          </a:ln>
        </p:spPr>
      </p:sp>
      <p:sp>
        <p:nvSpPr>
          <p:cNvPr id="17" name="Text 15"/>
          <p:cNvSpPr txBox="1"/>
          <p:nvPr/>
        </p:nvSpPr>
        <p:spPr>
          <a:xfrm>
            <a:off x="1051560" y="4270248"/>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8" name="Text 16"/>
          <p:cNvSpPr txBox="1"/>
          <p:nvPr/>
        </p:nvSpPr>
        <p:spPr>
          <a:xfrm>
            <a:off x="1051560" y="4535424"/>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「自分では作れない」と言われる</a:t>
            </a:r>
            <a:endParaRPr lang="en-US" sz="1350" dirty="0"/>
          </a:p>
        </p:txBody>
      </p:sp>
      <p:sp>
        <p:nvSpPr>
          <p:cNvPr id="19" name="Shape 17"/>
          <p:cNvSpPr/>
          <p:nvPr/>
        </p:nvSpPr>
        <p:spPr>
          <a:xfrm>
            <a:off x="5762549" y="4261104"/>
            <a:ext cx="18288" cy="859536"/>
          </a:xfrm>
          <a:prstGeom prst="rect">
            <a:avLst/>
          </a:prstGeom>
          <a:solidFill>
            <a:srgbClr val="EDE7DB"/>
          </a:solidFill>
          <a:ln w="12700">
            <a:solidFill>
              <a:srgbClr val="333333"/>
            </a:solidFill>
            <a:prstDash val="solid"/>
          </a:ln>
        </p:spPr>
      </p:sp>
      <p:sp>
        <p:nvSpPr>
          <p:cNvPr id="20" name="Text 18"/>
          <p:cNvSpPr txBox="1"/>
          <p:nvPr/>
        </p:nvSpPr>
        <p:spPr>
          <a:xfrm>
            <a:off x="6080760" y="4270248"/>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21" name="Text 19"/>
          <p:cNvSpPr txBox="1"/>
          <p:nvPr/>
        </p:nvSpPr>
        <p:spPr>
          <a:xfrm>
            <a:off x="6080760" y="4535424"/>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作れなくて構いません。目標は、発注できるようになることです</a:t>
            </a:r>
            <a:endParaRPr lang="en-US" sz="1250" dirty="0"/>
          </a:p>
        </p:txBody>
      </p:sp>
      <p:sp>
        <p:nvSpPr>
          <p:cNvPr id="22" name="Text 20"/>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23" name="Text 21"/>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つまずき</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想定問答</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この回で、よく聞かれること</a:t>
            </a:r>
            <a:endParaRPr lang="en-US" sz="2600" dirty="0"/>
          </a:p>
        </p:txBody>
      </p:sp>
      <p:sp>
        <p:nvSpPr>
          <p:cNvPr id="4" name="Shape 2"/>
          <p:cNvSpPr/>
          <p:nvPr/>
        </p:nvSpPr>
        <p:spPr>
          <a:xfrm>
            <a:off x="777240" y="1737360"/>
            <a:ext cx="10607040" cy="1170432"/>
          </a:xfrm>
          <a:prstGeom prst="rect">
            <a:avLst/>
          </a:prstGeom>
          <a:solidFill>
            <a:srgbClr val="FFFFFF"/>
          </a:solidFill>
          <a:ln w="12700">
            <a:solidFill>
              <a:srgbClr val="EDE7DB"/>
            </a:solidFill>
            <a:prstDash val="solid"/>
          </a:ln>
        </p:spPr>
      </p:sp>
      <p:sp>
        <p:nvSpPr>
          <p:cNvPr id="5" name="Shape 3"/>
          <p:cNvSpPr/>
          <p:nvPr/>
        </p:nvSpPr>
        <p:spPr>
          <a:xfrm>
            <a:off x="777240" y="1737360"/>
            <a:ext cx="54864" cy="1170432"/>
          </a:xfrm>
          <a:prstGeom prst="rect">
            <a:avLst/>
          </a:prstGeom>
          <a:solidFill>
            <a:srgbClr val="2F4F6B"/>
          </a:solidFill>
          <a:ln w="12700">
            <a:solidFill>
              <a:srgbClr val="333333"/>
            </a:solidFill>
            <a:prstDash val="solid"/>
          </a:ln>
        </p:spPr>
      </p:sp>
      <p:sp>
        <p:nvSpPr>
          <p:cNvPr id="6" name="Text 4"/>
          <p:cNvSpPr txBox="1"/>
          <p:nvPr/>
        </p:nvSpPr>
        <p:spPr>
          <a:xfrm>
            <a:off x="1097280" y="1828800"/>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「自動化は難しそうですが、自分で作れますか」</a:t>
            </a:r>
            <a:endParaRPr lang="en-US" sz="1400" dirty="0"/>
          </a:p>
        </p:txBody>
      </p:sp>
      <p:sp>
        <p:nvSpPr>
          <p:cNvPr id="7" name="Text 5"/>
          <p:cNvSpPr txBox="1"/>
          <p:nvPr/>
        </p:nvSpPr>
        <p:spPr>
          <a:xfrm>
            <a:off x="1097280" y="2231136"/>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作れなくて構いません。目標は、何をどう頼めばよいかが分かること——発注できるようになることです。</a:t>
            </a:r>
            <a:endParaRPr lang="en-US" sz="1250" dirty="0"/>
          </a:p>
        </p:txBody>
      </p:sp>
      <p:sp>
        <p:nvSpPr>
          <p:cNvPr id="8" name="Shape 6"/>
          <p:cNvSpPr/>
          <p:nvPr/>
        </p:nvSpPr>
        <p:spPr>
          <a:xfrm>
            <a:off x="777240" y="3035808"/>
            <a:ext cx="10607040" cy="1170432"/>
          </a:xfrm>
          <a:prstGeom prst="rect">
            <a:avLst/>
          </a:prstGeom>
          <a:solidFill>
            <a:srgbClr val="FFFFFF"/>
          </a:solidFill>
          <a:ln w="12700">
            <a:solidFill>
              <a:srgbClr val="EDE7DB"/>
            </a:solidFill>
            <a:prstDash val="solid"/>
          </a:ln>
        </p:spPr>
      </p:sp>
      <p:sp>
        <p:nvSpPr>
          <p:cNvPr id="9" name="Shape 7"/>
          <p:cNvSpPr/>
          <p:nvPr/>
        </p:nvSpPr>
        <p:spPr>
          <a:xfrm>
            <a:off x="777240" y="3035808"/>
            <a:ext cx="54864" cy="1170432"/>
          </a:xfrm>
          <a:prstGeom prst="rect">
            <a:avLst/>
          </a:prstGeom>
          <a:solidFill>
            <a:srgbClr val="2F4F6B"/>
          </a:solidFill>
          <a:ln w="12700">
            <a:solidFill>
              <a:srgbClr val="333333"/>
            </a:solidFill>
            <a:prstDash val="solid"/>
          </a:ln>
        </p:spPr>
      </p:sp>
      <p:sp>
        <p:nvSpPr>
          <p:cNvPr id="10" name="Text 8"/>
          <p:cNvSpPr txBox="1"/>
          <p:nvPr/>
        </p:nvSpPr>
        <p:spPr>
          <a:xfrm>
            <a:off x="1097280" y="3127248"/>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「止まったら業務が止まりませんか」</a:t>
            </a:r>
            <a:endParaRPr lang="en-US" sz="1400" dirty="0"/>
          </a:p>
        </p:txBody>
      </p:sp>
      <p:sp>
        <p:nvSpPr>
          <p:cNvPr id="11" name="Text 9"/>
          <p:cNvSpPr txBox="1"/>
          <p:nvPr/>
        </p:nvSpPr>
        <p:spPr>
          <a:xfrm>
            <a:off x="1097280" y="3529584"/>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止まっても業務が死なないものから選びます。手動に戻す手順も一緒に書きます。</a:t>
            </a:r>
            <a:endParaRPr lang="en-US" sz="1250" dirty="0"/>
          </a:p>
        </p:txBody>
      </p:sp>
      <p:sp>
        <p:nvSpPr>
          <p:cNvPr id="12" name="Shape 10"/>
          <p:cNvSpPr/>
          <p:nvPr/>
        </p:nvSpPr>
        <p:spPr>
          <a:xfrm>
            <a:off x="777240" y="4334256"/>
            <a:ext cx="10607040" cy="1170432"/>
          </a:xfrm>
          <a:prstGeom prst="rect">
            <a:avLst/>
          </a:prstGeom>
          <a:solidFill>
            <a:srgbClr val="FFFFFF"/>
          </a:solidFill>
          <a:ln w="12700">
            <a:solidFill>
              <a:srgbClr val="EDE7DB"/>
            </a:solidFill>
            <a:prstDash val="solid"/>
          </a:ln>
        </p:spPr>
      </p:sp>
      <p:sp>
        <p:nvSpPr>
          <p:cNvPr id="13" name="Shape 11"/>
          <p:cNvSpPr/>
          <p:nvPr/>
        </p:nvSpPr>
        <p:spPr>
          <a:xfrm>
            <a:off x="777240" y="4334256"/>
            <a:ext cx="54864" cy="1170432"/>
          </a:xfrm>
          <a:prstGeom prst="rect">
            <a:avLst/>
          </a:prstGeom>
          <a:solidFill>
            <a:srgbClr val="2F4F6B"/>
          </a:solidFill>
          <a:ln w="12700">
            <a:solidFill>
              <a:srgbClr val="333333"/>
            </a:solidFill>
            <a:prstDash val="solid"/>
          </a:ln>
        </p:spPr>
      </p:sp>
      <p:sp>
        <p:nvSpPr>
          <p:cNvPr id="14" name="Text 12"/>
          <p:cNvSpPr txBox="1"/>
          <p:nvPr/>
        </p:nvSpPr>
        <p:spPr>
          <a:xfrm>
            <a:off x="1097280" y="4425696"/>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「月額はいくらかかりますか」</a:t>
            </a:r>
            <a:endParaRPr lang="en-US" sz="1400" dirty="0"/>
          </a:p>
        </p:txBody>
      </p:sp>
      <p:sp>
        <p:nvSpPr>
          <p:cNvPr id="15" name="Text 13"/>
          <p:cNvSpPr txBox="1"/>
          <p:nvPr/>
        </p:nvSpPr>
        <p:spPr>
          <a:xfrm>
            <a:off x="1097280" y="4828032"/>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いま使っている基盤の中でできれば追加ゼロです。増える場合も、第11回の費用管理表に必ず載せます。</a:t>
            </a:r>
            <a:endParaRPr lang="en-US" sz="1250" dirty="0"/>
          </a:p>
        </p:txBody>
      </p:sp>
      <p:sp>
        <p:nvSpPr>
          <p:cNvPr id="16" name="Text 14"/>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7" name="Text 15"/>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想定問答</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用語</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今日出てきた言葉</a:t>
            </a:r>
            <a:endParaRPr lang="en-US" sz="2600" dirty="0"/>
          </a:p>
        </p:txBody>
      </p:sp>
      <p:sp>
        <p:nvSpPr>
          <p:cNvPr id="4" name="Shape 2"/>
          <p:cNvSpPr/>
          <p:nvPr/>
        </p:nvSpPr>
        <p:spPr>
          <a:xfrm>
            <a:off x="777240" y="182880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97280" y="192024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ワークフロー</a:t>
            </a:r>
            <a:endParaRPr lang="en-US" sz="1500" dirty="0"/>
          </a:p>
        </p:txBody>
      </p:sp>
      <p:sp>
        <p:nvSpPr>
          <p:cNvPr id="6" name="Shape 4"/>
          <p:cNvSpPr/>
          <p:nvPr/>
        </p:nvSpPr>
        <p:spPr>
          <a:xfrm>
            <a:off x="4065422" y="1956816"/>
            <a:ext cx="18288" cy="822960"/>
          </a:xfrm>
          <a:prstGeom prst="rect">
            <a:avLst/>
          </a:prstGeom>
          <a:solidFill>
            <a:srgbClr val="EDE7DB"/>
          </a:solidFill>
          <a:ln w="12700">
            <a:solidFill>
              <a:srgbClr val="333333"/>
            </a:solidFill>
            <a:prstDash val="solid"/>
          </a:ln>
        </p:spPr>
      </p:sp>
      <p:sp>
        <p:nvSpPr>
          <p:cNvPr id="7" name="Text 5"/>
          <p:cNvSpPr txBox="1"/>
          <p:nvPr/>
        </p:nvSpPr>
        <p:spPr>
          <a:xfrm>
            <a:off x="4383634" y="192024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起点から通知までの一連の流れ。図にしてから組みます</a:t>
            </a:r>
            <a:endParaRPr lang="en-US" sz="1250" dirty="0"/>
          </a:p>
        </p:txBody>
      </p:sp>
      <p:sp>
        <p:nvSpPr>
          <p:cNvPr id="8" name="Shape 6"/>
          <p:cNvSpPr/>
          <p:nvPr/>
        </p:nvSpPr>
        <p:spPr>
          <a:xfrm>
            <a:off x="777240" y="3063240"/>
            <a:ext cx="10607040" cy="1078992"/>
          </a:xfrm>
          <a:prstGeom prst="rect">
            <a:avLst/>
          </a:prstGeom>
          <a:solidFill>
            <a:srgbClr val="FFFFFF"/>
          </a:solidFill>
          <a:ln w="12700">
            <a:solidFill>
              <a:srgbClr val="EDE7DB"/>
            </a:solidFill>
            <a:prstDash val="solid"/>
          </a:ln>
        </p:spPr>
      </p:sp>
      <p:sp>
        <p:nvSpPr>
          <p:cNvPr id="9" name="Text 7"/>
          <p:cNvSpPr txBox="1"/>
          <p:nvPr/>
        </p:nvSpPr>
        <p:spPr>
          <a:xfrm>
            <a:off x="1097280" y="315468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通知</a:t>
            </a:r>
            <a:endParaRPr lang="en-US" sz="1500" dirty="0"/>
          </a:p>
        </p:txBody>
      </p:sp>
      <p:sp>
        <p:nvSpPr>
          <p:cNvPr id="10" name="Shape 8"/>
          <p:cNvSpPr/>
          <p:nvPr/>
        </p:nvSpPr>
        <p:spPr>
          <a:xfrm>
            <a:off x="4065422" y="3191256"/>
            <a:ext cx="18288" cy="822960"/>
          </a:xfrm>
          <a:prstGeom prst="rect">
            <a:avLst/>
          </a:prstGeom>
          <a:solidFill>
            <a:srgbClr val="EDE7DB"/>
          </a:solidFill>
          <a:ln w="12700">
            <a:solidFill>
              <a:srgbClr val="333333"/>
            </a:solidFill>
            <a:prstDash val="solid"/>
          </a:ln>
        </p:spPr>
      </p:sp>
      <p:sp>
        <p:nvSpPr>
          <p:cNvPr id="11" name="Text 9"/>
          <p:cNvSpPr txBox="1"/>
          <p:nvPr/>
        </p:nvSpPr>
        <p:spPr>
          <a:xfrm>
            <a:off x="4383634" y="315468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止まったことに気づくための仕掛け。これが無い自動化は作りません</a:t>
            </a:r>
            <a:endParaRPr lang="en-US" sz="1250" dirty="0"/>
          </a:p>
        </p:txBody>
      </p:sp>
      <p:sp>
        <p:nvSpPr>
          <p:cNvPr id="12" name="Shape 10"/>
          <p:cNvSpPr/>
          <p:nvPr/>
        </p:nvSpPr>
        <p:spPr>
          <a:xfrm>
            <a:off x="777240" y="4297680"/>
            <a:ext cx="10607040" cy="1078992"/>
          </a:xfrm>
          <a:prstGeom prst="rect">
            <a:avLst/>
          </a:prstGeom>
          <a:solidFill>
            <a:srgbClr val="FFFFFF"/>
          </a:solidFill>
          <a:ln w="12700">
            <a:solidFill>
              <a:srgbClr val="EDE7DB"/>
            </a:solidFill>
            <a:prstDash val="solid"/>
          </a:ln>
        </p:spPr>
      </p:sp>
      <p:sp>
        <p:nvSpPr>
          <p:cNvPr id="13" name="Text 11"/>
          <p:cNvSpPr txBox="1"/>
          <p:nvPr/>
        </p:nvSpPr>
        <p:spPr>
          <a:xfrm>
            <a:off x="1097280" y="438912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手動代替</a:t>
            </a:r>
            <a:endParaRPr lang="en-US" sz="1500" dirty="0"/>
          </a:p>
        </p:txBody>
      </p:sp>
      <p:sp>
        <p:nvSpPr>
          <p:cNvPr id="14" name="Shape 12"/>
          <p:cNvSpPr/>
          <p:nvPr/>
        </p:nvSpPr>
        <p:spPr>
          <a:xfrm>
            <a:off x="4065422" y="4425696"/>
            <a:ext cx="18288" cy="822960"/>
          </a:xfrm>
          <a:prstGeom prst="rect">
            <a:avLst/>
          </a:prstGeom>
          <a:solidFill>
            <a:srgbClr val="EDE7DB"/>
          </a:solidFill>
          <a:ln w="12700">
            <a:solidFill>
              <a:srgbClr val="333333"/>
            </a:solidFill>
            <a:prstDash val="solid"/>
          </a:ln>
        </p:spPr>
      </p:sp>
      <p:sp>
        <p:nvSpPr>
          <p:cNvPr id="15" name="Text 13"/>
          <p:cNvSpPr txBox="1"/>
          <p:nvPr/>
        </p:nvSpPr>
        <p:spPr>
          <a:xfrm>
            <a:off x="4383634" y="438912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自動が止まったときに、人が同じことをやる手順。必ず書いておきます</a:t>
            </a:r>
            <a:endParaRPr lang="en-US" sz="1250" dirty="0"/>
          </a:p>
        </p:txBody>
      </p:sp>
      <p:sp>
        <p:nvSpPr>
          <p:cNvPr id="16" name="Text 14"/>
          <p:cNvSpPr txBox="1"/>
          <p:nvPr/>
        </p:nvSpPr>
        <p:spPr>
          <a:xfrm>
            <a:off x="777240" y="5623560"/>
            <a:ext cx="10607040" cy="411480"/>
          </a:xfrm>
          <a:prstGeom prst="rect">
            <a:avLst/>
          </a:prstGeom>
          <a:noFill/>
          <a:ln/>
        </p:spPr>
        <p:txBody>
          <a:bodyPr wrap="square" lIns="0" tIns="0" rIns="0" bIns="0" rtlCol="0" anchor="ctr"/>
          <a:lstStyle/>
          <a:p>
            <a:pPr indent="0" marL="0">
              <a:buNone/>
            </a:pPr>
            <a:r>
              <a:rPr lang="en-US" sz="1150" dirty="0">
                <a:solidFill>
                  <a:srgbClr val="8A8177"/>
                </a:solidFill>
                <a:latin typeface="Yu Gothic" pitchFamily="34" charset="0"/>
                <a:ea typeface="Yu Gothic" pitchFamily="34" charset="-122"/>
                <a:cs typeface="Yu Gothic" pitchFamily="34" charset="-120"/>
              </a:rPr>
              <a:t>配布した用語辞典にも同じものが載っています。覚える必要はありません。</a:t>
            </a:r>
            <a:endParaRPr lang="en-US" sz="11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用語</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演習</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今日、一緒にやること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2F4F6B"/>
                </a:solidFill>
                <a:latin typeface="Yu Gothic" pitchFamily="34" charset="0"/>
                <a:ea typeface="Yu Gothic" pitchFamily="34" charset="-122"/>
                <a:cs typeface="Yu Gothic" pitchFamily="34" charset="-120"/>
              </a:rPr>
              <a:t>55分。操作するのはご自身です。</a:t>
            </a:r>
            <a:endParaRPr lang="en-US" sz="1250" dirty="0"/>
          </a:p>
        </p:txBody>
      </p:sp>
      <p:sp>
        <p:nvSpPr>
          <p:cNvPr id="5" name="Shape 3"/>
          <p:cNvSpPr/>
          <p:nvPr/>
        </p:nvSpPr>
        <p:spPr>
          <a:xfrm>
            <a:off x="777240" y="2148840"/>
            <a:ext cx="3383280" cy="2880360"/>
          </a:xfrm>
          <a:prstGeom prst="rect">
            <a:avLst/>
          </a:prstGeom>
          <a:solidFill>
            <a:srgbClr val="FFFFFF"/>
          </a:solidFill>
          <a:ln w="12700">
            <a:solidFill>
              <a:srgbClr val="EDE7DB"/>
            </a:solidFill>
            <a:prstDash val="solid"/>
          </a:ln>
        </p:spPr>
      </p:sp>
      <p:sp>
        <p:nvSpPr>
          <p:cNvPr id="6" name="Shape 4"/>
          <p:cNvSpPr/>
          <p:nvPr/>
        </p:nvSpPr>
        <p:spPr>
          <a:xfrm>
            <a:off x="1051560" y="2395728"/>
            <a:ext cx="438912" cy="438912"/>
          </a:xfrm>
          <a:prstGeom prst="ellipse">
            <a:avLst/>
          </a:prstGeom>
          <a:solidFill>
            <a:srgbClr val="2F4F6B"/>
          </a:solidFill>
          <a:ln w="12700">
            <a:solidFill>
              <a:srgbClr val="333333"/>
            </a:solidFill>
            <a:prstDash val="solid"/>
          </a:ln>
        </p:spPr>
      </p:sp>
      <p:sp>
        <p:nvSpPr>
          <p:cNvPr id="7" name="Text 5"/>
          <p:cNvSpPr txBox="1"/>
          <p:nvPr/>
        </p:nvSpPr>
        <p:spPr>
          <a:xfrm>
            <a:off x="105156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8" name="Text 6"/>
          <p:cNvSpPr txBox="1"/>
          <p:nvPr/>
        </p:nvSpPr>
        <p:spPr>
          <a:xfrm>
            <a:off x="105156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つなぎ目を図にする</a:t>
            </a:r>
            <a:endParaRPr lang="en-US" sz="1450" dirty="0"/>
          </a:p>
        </p:txBody>
      </p:sp>
      <p:sp>
        <p:nvSpPr>
          <p:cNvPr id="9" name="Text 7"/>
          <p:cNvSpPr txBox="1"/>
          <p:nvPr/>
        </p:nvSpPr>
        <p:spPr>
          <a:xfrm>
            <a:off x="105156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集める・渡す・保存する・知らせる。どこが人力かを洗い出します</a:t>
            </a:r>
            <a:endParaRPr lang="en-US" sz="1150" dirty="0"/>
          </a:p>
        </p:txBody>
      </p:sp>
      <p:sp>
        <p:nvSpPr>
          <p:cNvPr id="10" name="Shape 8"/>
          <p:cNvSpPr/>
          <p:nvPr/>
        </p:nvSpPr>
        <p:spPr>
          <a:xfrm>
            <a:off x="4389120" y="2148840"/>
            <a:ext cx="3383280" cy="2880360"/>
          </a:xfrm>
          <a:prstGeom prst="rect">
            <a:avLst/>
          </a:prstGeom>
          <a:solidFill>
            <a:srgbClr val="FFFFFF"/>
          </a:solidFill>
          <a:ln w="12700">
            <a:solidFill>
              <a:srgbClr val="EDE7DB"/>
            </a:solidFill>
            <a:prstDash val="solid"/>
          </a:ln>
        </p:spPr>
      </p:sp>
      <p:sp>
        <p:nvSpPr>
          <p:cNvPr id="11" name="Shape 9"/>
          <p:cNvSpPr/>
          <p:nvPr/>
        </p:nvSpPr>
        <p:spPr>
          <a:xfrm>
            <a:off x="4663440" y="2395728"/>
            <a:ext cx="438912" cy="438912"/>
          </a:xfrm>
          <a:prstGeom prst="ellipse">
            <a:avLst/>
          </a:prstGeom>
          <a:solidFill>
            <a:srgbClr val="2F4F6B"/>
          </a:solidFill>
          <a:ln w="12700">
            <a:solidFill>
              <a:srgbClr val="333333"/>
            </a:solidFill>
            <a:prstDash val="solid"/>
          </a:ln>
        </p:spPr>
      </p:sp>
      <p:sp>
        <p:nvSpPr>
          <p:cNvPr id="12" name="Text 10"/>
          <p:cNvSpPr txBox="1"/>
          <p:nvPr/>
        </p:nvSpPr>
        <p:spPr>
          <a:xfrm>
            <a:off x="466344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3" name="Text 11"/>
          <p:cNvSpPr txBox="1"/>
          <p:nvPr/>
        </p:nvSpPr>
        <p:spPr>
          <a:xfrm>
            <a:off x="466344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1本つなぐ</a:t>
            </a:r>
            <a:endParaRPr lang="en-US" sz="1450" dirty="0"/>
          </a:p>
        </p:txBody>
      </p:sp>
      <p:sp>
        <p:nvSpPr>
          <p:cNvPr id="14" name="Text 12"/>
          <p:cNvSpPr txBox="1"/>
          <p:nvPr/>
        </p:nvSpPr>
        <p:spPr>
          <a:xfrm>
            <a:off x="466344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止まっても業務が死なないものから選びます</a:t>
            </a:r>
            <a:endParaRPr lang="en-US" sz="1150" dirty="0"/>
          </a:p>
        </p:txBody>
      </p:sp>
      <p:sp>
        <p:nvSpPr>
          <p:cNvPr id="15" name="Shape 13"/>
          <p:cNvSpPr/>
          <p:nvPr/>
        </p:nvSpPr>
        <p:spPr>
          <a:xfrm>
            <a:off x="8001000" y="2148840"/>
            <a:ext cx="3383280" cy="2880360"/>
          </a:xfrm>
          <a:prstGeom prst="rect">
            <a:avLst/>
          </a:prstGeom>
          <a:solidFill>
            <a:srgbClr val="FFFFFF"/>
          </a:solidFill>
          <a:ln w="12700">
            <a:solidFill>
              <a:srgbClr val="EDE7DB"/>
            </a:solidFill>
            <a:prstDash val="solid"/>
          </a:ln>
        </p:spPr>
      </p:sp>
      <p:sp>
        <p:nvSpPr>
          <p:cNvPr id="16" name="Shape 14"/>
          <p:cNvSpPr/>
          <p:nvPr/>
        </p:nvSpPr>
        <p:spPr>
          <a:xfrm>
            <a:off x="8275320" y="2395728"/>
            <a:ext cx="438912" cy="438912"/>
          </a:xfrm>
          <a:prstGeom prst="ellipse">
            <a:avLst/>
          </a:prstGeom>
          <a:solidFill>
            <a:srgbClr val="2F4F6B"/>
          </a:solidFill>
          <a:ln w="12700">
            <a:solidFill>
              <a:srgbClr val="333333"/>
            </a:solidFill>
            <a:prstDash val="solid"/>
          </a:ln>
        </p:spPr>
      </p:sp>
      <p:sp>
        <p:nvSpPr>
          <p:cNvPr id="17" name="Text 15"/>
          <p:cNvSpPr txBox="1"/>
          <p:nvPr/>
        </p:nvSpPr>
        <p:spPr>
          <a:xfrm>
            <a:off x="827532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8" name="Text 16"/>
          <p:cNvSpPr txBox="1"/>
          <p:nvPr/>
        </p:nvSpPr>
        <p:spPr>
          <a:xfrm>
            <a:off x="827532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壊れたときの備えを入れる</a:t>
            </a:r>
            <a:endParaRPr lang="en-US" sz="1450" dirty="0"/>
          </a:p>
        </p:txBody>
      </p:sp>
      <p:sp>
        <p:nvSpPr>
          <p:cNvPr id="19" name="Text 17"/>
          <p:cNvSpPr txBox="1"/>
          <p:nvPr/>
        </p:nvSpPr>
        <p:spPr>
          <a:xfrm>
            <a:off x="827532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通知を仕込み、手動に戻す手順を書きます</a:t>
            </a:r>
            <a:endParaRPr lang="en-US" sz="11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演習</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業務への組み込み</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帰る前に決めること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3B6B4A"/>
                </a:solidFill>
                <a:latin typeface="Yu Gothic" pitchFamily="34" charset="0"/>
                <a:ea typeface="Yu Gothic" pitchFamily="34" charset="-122"/>
                <a:cs typeface="Yu Gothic" pitchFamily="34" charset="-120"/>
              </a:rPr>
              <a:t>ここを決めないと、持ち帰っても使われません。紙に書きます。</a:t>
            </a:r>
            <a:endParaRPr lang="en-US" sz="1250" dirty="0"/>
          </a:p>
        </p:txBody>
      </p:sp>
      <p:sp>
        <p:nvSpPr>
          <p:cNvPr id="5" name="Shape 3"/>
          <p:cNvSpPr/>
          <p:nvPr/>
        </p:nvSpPr>
        <p:spPr>
          <a:xfrm>
            <a:off x="777240" y="2103120"/>
            <a:ext cx="10607040" cy="914400"/>
          </a:xfrm>
          <a:prstGeom prst="rect">
            <a:avLst/>
          </a:prstGeom>
          <a:solidFill>
            <a:srgbClr val="FFFFFF"/>
          </a:solidFill>
          <a:ln w="12700">
            <a:solidFill>
              <a:srgbClr val="EDE7DB"/>
            </a:solidFill>
            <a:prstDash val="solid"/>
          </a:ln>
        </p:spPr>
      </p:sp>
      <p:sp>
        <p:nvSpPr>
          <p:cNvPr id="6" name="Shape 4"/>
          <p:cNvSpPr/>
          <p:nvPr/>
        </p:nvSpPr>
        <p:spPr>
          <a:xfrm>
            <a:off x="777240" y="2103120"/>
            <a:ext cx="54864" cy="914400"/>
          </a:xfrm>
          <a:prstGeom prst="rect">
            <a:avLst/>
          </a:prstGeom>
          <a:solidFill>
            <a:srgbClr val="3B6B4A"/>
          </a:solidFill>
          <a:ln w="12700">
            <a:solidFill>
              <a:srgbClr val="333333"/>
            </a:solidFill>
            <a:prstDash val="solid"/>
          </a:ln>
        </p:spPr>
      </p:sp>
      <p:sp>
        <p:nvSpPr>
          <p:cNvPr id="7" name="Text 5"/>
          <p:cNvSpPr txBox="1"/>
          <p:nvPr/>
        </p:nvSpPr>
        <p:spPr>
          <a:xfrm>
            <a:off x="1143000" y="217627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いつから本番にするか</a:t>
            </a:r>
            <a:endParaRPr lang="en-US" sz="1400" dirty="0"/>
          </a:p>
        </p:txBody>
      </p:sp>
      <p:sp>
        <p:nvSpPr>
          <p:cNvPr id="8" name="Text 6"/>
          <p:cNvSpPr txBox="1"/>
          <p:nvPr/>
        </p:nvSpPr>
        <p:spPr>
          <a:xfrm>
            <a:off x="4006901" y="217627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来週から。テストのまま放置すると、結局使われません</a:t>
            </a:r>
            <a:endParaRPr lang="en-US" sz="1250" dirty="0"/>
          </a:p>
        </p:txBody>
      </p:sp>
      <p:sp>
        <p:nvSpPr>
          <p:cNvPr id="9" name="Shape 7"/>
          <p:cNvSpPr/>
          <p:nvPr/>
        </p:nvSpPr>
        <p:spPr>
          <a:xfrm>
            <a:off x="777240" y="3154680"/>
            <a:ext cx="10607040" cy="914400"/>
          </a:xfrm>
          <a:prstGeom prst="rect">
            <a:avLst/>
          </a:prstGeom>
          <a:solidFill>
            <a:srgbClr val="FFFFFF"/>
          </a:solidFill>
          <a:ln w="12700">
            <a:solidFill>
              <a:srgbClr val="EDE7DB"/>
            </a:solidFill>
            <a:prstDash val="solid"/>
          </a:ln>
        </p:spPr>
      </p:sp>
      <p:sp>
        <p:nvSpPr>
          <p:cNvPr id="10" name="Shape 8"/>
          <p:cNvSpPr/>
          <p:nvPr/>
        </p:nvSpPr>
        <p:spPr>
          <a:xfrm>
            <a:off x="777240" y="3154680"/>
            <a:ext cx="54864" cy="914400"/>
          </a:xfrm>
          <a:prstGeom prst="rect">
            <a:avLst/>
          </a:prstGeom>
          <a:solidFill>
            <a:srgbClr val="3B6B4A"/>
          </a:solidFill>
          <a:ln w="12700">
            <a:solidFill>
              <a:srgbClr val="333333"/>
            </a:solidFill>
            <a:prstDash val="solid"/>
          </a:ln>
        </p:spPr>
      </p:sp>
      <p:sp>
        <p:nvSpPr>
          <p:cNvPr id="11" name="Text 9"/>
          <p:cNvSpPr txBox="1"/>
          <p:nvPr/>
        </p:nvSpPr>
        <p:spPr>
          <a:xfrm>
            <a:off x="1143000" y="322783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止まったら誰に知らせるか</a:t>
            </a:r>
            <a:endParaRPr lang="en-US" sz="1400" dirty="0"/>
          </a:p>
        </p:txBody>
      </p:sp>
      <p:sp>
        <p:nvSpPr>
          <p:cNvPr id="12" name="Text 10"/>
          <p:cNvSpPr txBox="1"/>
          <p:nvPr/>
        </p:nvSpPr>
        <p:spPr>
          <a:xfrm>
            <a:off x="4006901" y="322783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通知の宛先を実名で決めます</a:t>
            </a:r>
            <a:endParaRPr lang="en-US" sz="1250" dirty="0"/>
          </a:p>
        </p:txBody>
      </p:sp>
      <p:sp>
        <p:nvSpPr>
          <p:cNvPr id="13" name="Shape 11"/>
          <p:cNvSpPr/>
          <p:nvPr/>
        </p:nvSpPr>
        <p:spPr>
          <a:xfrm>
            <a:off x="777240" y="4206240"/>
            <a:ext cx="10607040" cy="914400"/>
          </a:xfrm>
          <a:prstGeom prst="rect">
            <a:avLst/>
          </a:prstGeom>
          <a:solidFill>
            <a:srgbClr val="FFFFFF"/>
          </a:solidFill>
          <a:ln w="12700">
            <a:solidFill>
              <a:srgbClr val="EDE7DB"/>
            </a:solidFill>
            <a:prstDash val="solid"/>
          </a:ln>
        </p:spPr>
      </p:sp>
      <p:sp>
        <p:nvSpPr>
          <p:cNvPr id="14" name="Shape 12"/>
          <p:cNvSpPr/>
          <p:nvPr/>
        </p:nvSpPr>
        <p:spPr>
          <a:xfrm>
            <a:off x="777240" y="4206240"/>
            <a:ext cx="54864" cy="914400"/>
          </a:xfrm>
          <a:prstGeom prst="rect">
            <a:avLst/>
          </a:prstGeom>
          <a:solidFill>
            <a:srgbClr val="3B6B4A"/>
          </a:solidFill>
          <a:ln w="12700">
            <a:solidFill>
              <a:srgbClr val="333333"/>
            </a:solidFill>
            <a:prstDash val="solid"/>
          </a:ln>
        </p:spPr>
      </p:sp>
      <p:sp>
        <p:nvSpPr>
          <p:cNvPr id="15" name="Text 13"/>
          <p:cNvSpPr txBox="1"/>
          <p:nvPr/>
        </p:nvSpPr>
        <p:spPr>
          <a:xfrm>
            <a:off x="1143000" y="427939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月額はいくらか</a:t>
            </a:r>
            <a:endParaRPr lang="en-US" sz="1400" dirty="0"/>
          </a:p>
        </p:txBody>
      </p:sp>
      <p:sp>
        <p:nvSpPr>
          <p:cNvPr id="16" name="Text 14"/>
          <p:cNvSpPr txBox="1"/>
          <p:nvPr/>
        </p:nvSpPr>
        <p:spPr>
          <a:xfrm>
            <a:off x="4006901" y="427939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増えた費用を、第11回の管理表に載せる前提でメモします</a:t>
            </a:r>
            <a:endParaRPr lang="en-US" sz="12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組み込み</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ここだけは</a:t>
            </a:r>
            <a:endParaRPr lang="en-US" sz="1100" dirty="0"/>
          </a:p>
        </p:txBody>
      </p:sp>
      <p:sp>
        <p:nvSpPr>
          <p:cNvPr id="3" name="Text 1"/>
          <p:cNvSpPr txBox="1"/>
          <p:nvPr/>
        </p:nvSpPr>
        <p:spPr>
          <a:xfrm>
            <a:off x="777240" y="1097280"/>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ツールを増やさないでください</a:t>
            </a:r>
            <a:endParaRPr lang="en-US" sz="2600" dirty="0"/>
          </a:p>
        </p:txBody>
      </p:sp>
      <p:sp>
        <p:nvSpPr>
          <p:cNvPr id="4" name="Shape 2"/>
          <p:cNvSpPr/>
          <p:nvPr/>
        </p:nvSpPr>
        <p:spPr>
          <a:xfrm>
            <a:off x="777240" y="2148840"/>
            <a:ext cx="64008" cy="2194560"/>
          </a:xfrm>
          <a:prstGeom prst="rect">
            <a:avLst/>
          </a:prstGeom>
          <a:solidFill>
            <a:srgbClr val="B04A2F"/>
          </a:solidFill>
          <a:ln w="12700">
            <a:solidFill>
              <a:srgbClr val="333333"/>
            </a:solidFill>
            <a:prstDash val="solid"/>
          </a:ln>
        </p:spPr>
      </p:sp>
      <p:sp>
        <p:nvSpPr>
          <p:cNvPr id="5" name="Text 3"/>
          <p:cNvSpPr txBox="1"/>
          <p:nvPr/>
        </p:nvSpPr>
        <p:spPr>
          <a:xfrm>
            <a:off x="1188720" y="2148840"/>
            <a:ext cx="9966960" cy="2194560"/>
          </a:xfrm>
          <a:prstGeom prst="rect">
            <a:avLst/>
          </a:prstGeom>
          <a:noFill/>
          <a:ln/>
        </p:spPr>
        <p:txBody>
          <a:bodyPr wrap="square" lIns="0" tIns="0" rIns="0" bIns="0" rtlCol="0" anchor="ctr"/>
          <a:lstStyle/>
          <a:p>
            <a:pPr indent="0" marL="0">
              <a:lnSpc>
                <a:spcPct val="160000"/>
              </a:lnSpc>
              <a:buNone/>
            </a:pPr>
            <a:r>
              <a:rPr lang="en-US" sz="1650" dirty="0">
                <a:solidFill>
                  <a:srgbClr val="3F3933"/>
                </a:solidFill>
                <a:latin typeface="Yu Gothic" pitchFamily="34" charset="0"/>
                <a:ea typeface="Yu Gothic" pitchFamily="34" charset="-122"/>
                <a:cs typeface="Yu Gothic" pitchFamily="34" charset="-120"/>
              </a:rPr>
              <a:t>新しいサービスを3つ契約して、どれも中途半端に触って終わる——これがいちばん多い失敗です。いま使っている基盤の中でできることが大半です。増やすのは、必要だと分かってからで間に合います。</a:t>
            </a:r>
            <a:endParaRPr lang="en-US" sz="1650" dirty="0"/>
          </a:p>
        </p:txBody>
      </p:sp>
      <p:sp>
        <p:nvSpPr>
          <p:cNvPr id="6" name="Shape 4"/>
          <p:cNvSpPr/>
          <p:nvPr/>
        </p:nvSpPr>
        <p:spPr>
          <a:xfrm>
            <a:off x="777240" y="4709160"/>
            <a:ext cx="10607040" cy="960120"/>
          </a:xfrm>
          <a:prstGeom prst="rect">
            <a:avLst/>
          </a:prstGeom>
          <a:solidFill>
            <a:srgbClr val="EDE7DB"/>
          </a:solidFill>
          <a:ln w="12700">
            <a:solidFill>
              <a:srgbClr val="333333"/>
            </a:solidFill>
            <a:prstDash val="solid"/>
          </a:ln>
        </p:spPr>
      </p:sp>
      <p:sp>
        <p:nvSpPr>
          <p:cNvPr id="7" name="Text 5"/>
          <p:cNvSpPr txBox="1"/>
          <p:nvPr/>
        </p:nvSpPr>
        <p:spPr>
          <a:xfrm>
            <a:off x="1051560" y="480060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よくある型</a:t>
            </a:r>
            <a:endParaRPr lang="en-US" sz="900" dirty="0"/>
          </a:p>
        </p:txBody>
      </p:sp>
      <p:sp>
        <p:nvSpPr>
          <p:cNvPr id="8" name="Text 6"/>
          <p:cNvSpPr txBox="1"/>
          <p:nvPr/>
        </p:nvSpPr>
        <p:spPr>
          <a:xfrm>
            <a:off x="1051560" y="5029200"/>
            <a:ext cx="10058400" cy="566928"/>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転記の自動化は、時間の削減より、転記漏れが原因のクレームが消えることのほうが効く。時間だけで測ると価値を見誤る。</a:t>
            </a:r>
            <a:endParaRPr lang="en-US" sz="1250" dirty="0"/>
          </a:p>
        </p:txBody>
      </p:sp>
      <p:sp>
        <p:nvSpPr>
          <p:cNvPr id="9" name="Text 7"/>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0" name="Text 8"/>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ここだけは</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次回まで</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次回は「社内の知識を検索できるようにする」</a:t>
            </a:r>
            <a:endParaRPr lang="en-US" sz="2600" dirty="0"/>
          </a:p>
        </p:txBody>
      </p:sp>
      <p:sp>
        <p:nvSpPr>
          <p:cNvPr id="4" name="Text 2"/>
          <p:cNvSpPr txBox="1"/>
          <p:nvPr/>
        </p:nvSpPr>
        <p:spPr>
          <a:xfrm>
            <a:off x="777240" y="1572768"/>
            <a:ext cx="9546336" cy="457200"/>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次回は「あの資料どこ」を社内から減らします。答えられなかった質問が、実は最大の成果物になります。</a:t>
            </a:r>
            <a:endParaRPr lang="en-US" sz="1400" dirty="0"/>
          </a:p>
        </p:txBody>
      </p:sp>
      <p:sp>
        <p:nvSpPr>
          <p:cNvPr id="5" name="Shape 3"/>
          <p:cNvSpPr/>
          <p:nvPr/>
        </p:nvSpPr>
        <p:spPr>
          <a:xfrm>
            <a:off x="777240" y="2240280"/>
            <a:ext cx="4985309" cy="2286000"/>
          </a:xfrm>
          <a:prstGeom prst="rect">
            <a:avLst/>
          </a:prstGeom>
          <a:solidFill>
            <a:srgbClr val="FFFFFF"/>
          </a:solidFill>
          <a:ln w="12700">
            <a:solidFill>
              <a:srgbClr val="EDE7DB"/>
            </a:solidFill>
            <a:prstDash val="solid"/>
          </a:ln>
        </p:spPr>
      </p:sp>
      <p:sp>
        <p:nvSpPr>
          <p:cNvPr id="6" name="Text 4"/>
          <p:cNvSpPr txBox="1"/>
          <p:nvPr/>
        </p:nvSpPr>
        <p:spPr>
          <a:xfrm>
            <a:off x="1051560" y="2377440"/>
            <a:ext cx="4242816" cy="274320"/>
          </a:xfrm>
          <a:prstGeom prst="rect">
            <a:avLst/>
          </a:prstGeom>
          <a:noFill/>
          <a:ln/>
        </p:spPr>
        <p:txBody>
          <a:bodyPr wrap="square" lIns="0" tIns="0" rIns="0" bIns="0" rtlCol="0" anchor="ctr"/>
          <a:lstStyle/>
          <a:p>
            <a:pPr indent="0" marL="0">
              <a:buNone/>
            </a:pPr>
            <a:r>
              <a:rPr lang="en-US" sz="1000" b="1" spc="150" kern="0" dirty="0">
                <a:solidFill>
                  <a:srgbClr val="B04A2F"/>
                </a:solidFill>
                <a:latin typeface="Yu Gothic" pitchFamily="34" charset="0"/>
                <a:ea typeface="Yu Gothic" pitchFamily="34" charset="-122"/>
                <a:cs typeface="Yu Gothic" pitchFamily="34" charset="-120"/>
              </a:rPr>
              <a:t>次回までにやること</a:t>
            </a:r>
            <a:endParaRPr lang="en-US" sz="1000" dirty="0"/>
          </a:p>
        </p:txBody>
      </p:sp>
      <p:sp>
        <p:nvSpPr>
          <p:cNvPr id="7" name="Text 5"/>
          <p:cNvSpPr txBox="1"/>
          <p:nvPr/>
        </p:nvSpPr>
        <p:spPr>
          <a:xfrm>
            <a:off x="1051560" y="2743200"/>
            <a:ext cx="4436669" cy="1554480"/>
          </a:xfrm>
          <a:prstGeom prst="rect">
            <a:avLst/>
          </a:prstGeom>
          <a:noFill/>
          <a:ln/>
        </p:spPr>
        <p:txBody>
          <a:bodyPr wrap="square" lIns="0" tIns="0" rIns="0" bIns="0" rtlCol="0" anchor="ctr"/>
          <a:lstStyle/>
          <a:p>
            <a:pPr indent="0" marL="0">
              <a:lnSpc>
                <a:spcPct val="140000"/>
              </a:lnSpc>
              <a:buNone/>
            </a:pPr>
            <a:r>
              <a:rPr lang="en-US" sz="1400" dirty="0">
                <a:solidFill>
                  <a:srgbClr val="23201D"/>
                </a:solidFill>
                <a:latin typeface="Yu Gothic" pitchFamily="34" charset="0"/>
                <a:ea typeface="Yu Gothic" pitchFamily="34" charset="-122"/>
                <a:cs typeface="Yu Gothic" pitchFamily="34" charset="-120"/>
              </a:rPr>
              <a:t>組んだ自動化を1週間、本番で流す。止まったら記録だけ取る</a:t>
            </a:r>
            <a:endParaRPr lang="en-US" sz="1400" dirty="0"/>
          </a:p>
        </p:txBody>
      </p:sp>
      <p:sp>
        <p:nvSpPr>
          <p:cNvPr id="8" name="Shape 6"/>
          <p:cNvSpPr/>
          <p:nvPr/>
        </p:nvSpPr>
        <p:spPr>
          <a:xfrm>
            <a:off x="6398971" y="2240280"/>
            <a:ext cx="4985309" cy="2286000"/>
          </a:xfrm>
          <a:prstGeom prst="rect">
            <a:avLst/>
          </a:prstGeom>
          <a:solidFill>
            <a:srgbClr val="FFFFFF"/>
          </a:solidFill>
          <a:ln w="12700">
            <a:solidFill>
              <a:srgbClr val="EDE7DB"/>
            </a:solidFill>
            <a:prstDash val="solid"/>
          </a:ln>
        </p:spPr>
      </p:sp>
      <p:sp>
        <p:nvSpPr>
          <p:cNvPr id="9" name="Text 7"/>
          <p:cNvSpPr txBox="1"/>
          <p:nvPr/>
        </p:nvSpPr>
        <p:spPr>
          <a:xfrm>
            <a:off x="6673291" y="2377440"/>
            <a:ext cx="4242816" cy="274320"/>
          </a:xfrm>
          <a:prstGeom prst="rect">
            <a:avLst/>
          </a:prstGeom>
          <a:noFill/>
          <a:ln/>
        </p:spPr>
        <p:txBody>
          <a:bodyPr wrap="square" lIns="0" tIns="0" rIns="0" bIns="0" rtlCol="0" anchor="ctr"/>
          <a:lstStyle/>
          <a:p>
            <a:pPr indent="0" marL="0">
              <a:buNone/>
            </a:pPr>
            <a:r>
              <a:rPr lang="en-US" sz="1000" b="1" spc="150" kern="0" dirty="0">
                <a:solidFill>
                  <a:srgbClr val="3B6B4A"/>
                </a:solidFill>
                <a:latin typeface="Yu Gothic" pitchFamily="34" charset="0"/>
                <a:ea typeface="Yu Gothic" pitchFamily="34" charset="-122"/>
                <a:cs typeface="Yu Gothic" pitchFamily="34" charset="-120"/>
              </a:rPr>
              <a:t>次回の持ち物</a:t>
            </a:r>
            <a:endParaRPr lang="en-US" sz="1000" dirty="0"/>
          </a:p>
        </p:txBody>
      </p:sp>
      <p:sp>
        <p:nvSpPr>
          <p:cNvPr id="10" name="Text 8"/>
          <p:cNvSpPr txBox="1"/>
          <p:nvPr/>
        </p:nvSpPr>
        <p:spPr>
          <a:xfrm>
            <a:off x="6673291" y="274320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・対象にする領域の資料一式</a:t>
            </a:r>
            <a:endParaRPr lang="en-US" sz="1250" dirty="0"/>
          </a:p>
        </p:txBody>
      </p:sp>
      <p:sp>
        <p:nvSpPr>
          <p:cNvPr id="11" name="Text 9"/>
          <p:cNvSpPr txBox="1"/>
          <p:nvPr/>
        </p:nvSpPr>
        <p:spPr>
          <a:xfrm>
            <a:off x="6673291" y="347472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・過去に社内で出た質問 10件</a:t>
            </a:r>
            <a:endParaRPr lang="en-US" sz="1250" dirty="0"/>
          </a:p>
        </p:txBody>
      </p:sp>
      <p:sp>
        <p:nvSpPr>
          <p:cNvPr id="12" name="Shape 10"/>
          <p:cNvSpPr/>
          <p:nvPr/>
        </p:nvSpPr>
        <p:spPr>
          <a:xfrm>
            <a:off x="777240" y="4800600"/>
            <a:ext cx="10607040" cy="777240"/>
          </a:xfrm>
          <a:prstGeom prst="rect">
            <a:avLst/>
          </a:prstGeom>
          <a:solidFill>
            <a:srgbClr val="EDE7DB"/>
          </a:solidFill>
          <a:ln w="12700">
            <a:solidFill>
              <a:srgbClr val="333333"/>
            </a:solidFill>
            <a:prstDash val="solid"/>
          </a:ln>
        </p:spPr>
      </p:sp>
      <p:sp>
        <p:nvSpPr>
          <p:cNvPr id="13" name="Text 11"/>
          <p:cNvSpPr txBox="1"/>
          <p:nvPr/>
        </p:nvSpPr>
        <p:spPr>
          <a:xfrm>
            <a:off x="1097280" y="4800600"/>
            <a:ext cx="9966960" cy="777240"/>
          </a:xfrm>
          <a:prstGeom prst="rect">
            <a:avLst/>
          </a:prstGeom>
          <a:noFill/>
          <a:ln/>
        </p:spPr>
        <p:txBody>
          <a:bodyPr wrap="square" lIns="0" tIns="0" rIns="0" bIns="0" rtlCol="0" anchor="ctr"/>
          <a:lstStyle/>
          <a:p>
            <a:pPr indent="0" marL="0">
              <a:buNone/>
            </a:pPr>
            <a:r>
              <a:rPr lang="en-US" sz="1250" dirty="0">
                <a:solidFill>
                  <a:srgbClr val="5A534A"/>
                </a:solidFill>
                <a:latin typeface="Yu Gothic" pitchFamily="34" charset="0"/>
                <a:ea typeface="Yu Gothic" pitchFamily="34" charset="-122"/>
                <a:cs typeface="Yu Gothic" pitchFamily="34" charset="-120"/>
              </a:rPr>
              <a:t>この内容は、次回の3日前にあらためてお送りします。</a:t>
            </a:r>
            <a:endParaRPr lang="en-US" sz="1250" dirty="0"/>
          </a:p>
        </p:txBody>
      </p:sp>
      <p:sp>
        <p:nvSpPr>
          <p:cNvPr id="14" name="Text 12"/>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5" name="Text 13"/>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次回まで</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1280160"/>
            <a:ext cx="10607040" cy="365760"/>
          </a:xfrm>
          <a:prstGeom prst="rect">
            <a:avLst/>
          </a:prstGeom>
          <a:noFill/>
          <a:ln/>
        </p:spPr>
        <p:txBody>
          <a:bodyPr wrap="square" lIns="0" tIns="0" rIns="0" bIns="0" rtlCol="0" anchor="ctr"/>
          <a:lstStyle/>
          <a:p>
            <a:pPr indent="0" marL="0">
              <a:buNone/>
            </a:pPr>
            <a:r>
              <a:rPr lang="en-US" sz="1200" b="1" spc="300" kern="0" dirty="0">
                <a:solidFill>
                  <a:srgbClr val="B04A2F"/>
                </a:solidFill>
                <a:latin typeface="Yu Gothic" pitchFamily="34" charset="0"/>
                <a:ea typeface="Yu Gothic" pitchFamily="34" charset="-122"/>
                <a:cs typeface="Yu Gothic" pitchFamily="34" charset="-120"/>
              </a:rPr>
              <a:t>今日の宿題</a:t>
            </a:r>
            <a:endParaRPr lang="en-US" sz="1200" dirty="0"/>
          </a:p>
        </p:txBody>
      </p:sp>
      <p:sp>
        <p:nvSpPr>
          <p:cNvPr id="3" name="Text 1"/>
          <p:cNvSpPr txBox="1"/>
          <p:nvPr/>
        </p:nvSpPr>
        <p:spPr>
          <a:xfrm>
            <a:off x="777240" y="1691640"/>
            <a:ext cx="10607040" cy="64008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ひとつだけ</a:t>
            </a:r>
            <a:endParaRPr lang="en-US" sz="3200" dirty="0"/>
          </a:p>
        </p:txBody>
      </p:sp>
      <p:sp>
        <p:nvSpPr>
          <p:cNvPr id="4" name="Shape 2"/>
          <p:cNvSpPr/>
          <p:nvPr/>
        </p:nvSpPr>
        <p:spPr>
          <a:xfrm>
            <a:off x="777240" y="2651760"/>
            <a:ext cx="10607040" cy="1371600"/>
          </a:xfrm>
          <a:prstGeom prst="rect">
            <a:avLst/>
          </a:prstGeom>
          <a:solidFill>
            <a:srgbClr val="2E2A26"/>
          </a:solidFill>
          <a:ln w="12700">
            <a:solidFill>
              <a:srgbClr val="B04A2F"/>
            </a:solidFill>
            <a:prstDash val="solid"/>
          </a:ln>
        </p:spPr>
      </p:sp>
      <p:sp>
        <p:nvSpPr>
          <p:cNvPr id="5" name="Text 3"/>
          <p:cNvSpPr txBox="1"/>
          <p:nvPr/>
        </p:nvSpPr>
        <p:spPr>
          <a:xfrm>
            <a:off x="1234440" y="2743200"/>
            <a:ext cx="9692640" cy="1188720"/>
          </a:xfrm>
          <a:prstGeom prst="rect">
            <a:avLst/>
          </a:prstGeom>
          <a:noFill/>
          <a:ln/>
        </p:spPr>
        <p:txBody>
          <a:bodyPr wrap="square" lIns="0" tIns="0" rIns="0" bIns="0" rtlCol="0" anchor="ctr"/>
          <a:lstStyle/>
          <a:p>
            <a:pPr indent="0" marL="0">
              <a:lnSpc>
                <a:spcPct val="140000"/>
              </a:lnSpc>
              <a:buNone/>
            </a:pPr>
            <a:r>
              <a:rPr lang="en-US" sz="1900" b="1" dirty="0">
                <a:solidFill>
                  <a:srgbClr val="FFFFFF"/>
                </a:solidFill>
                <a:latin typeface="Yu Gothic" pitchFamily="34" charset="0"/>
                <a:ea typeface="Yu Gothic" pitchFamily="34" charset="-122"/>
                <a:cs typeface="Yu Gothic" pitchFamily="34" charset="-120"/>
              </a:rPr>
              <a:t>組んだ自動化を1週間、本番で流し続ける。止まったら記録だけ取る（直さなくて結構です）。</a:t>
            </a:r>
            <a:endParaRPr lang="en-US" sz="1900" dirty="0"/>
          </a:p>
        </p:txBody>
      </p:sp>
      <p:sp>
        <p:nvSpPr>
          <p:cNvPr id="6" name="Text 4"/>
          <p:cNvSpPr txBox="1"/>
          <p:nvPr/>
        </p:nvSpPr>
        <p:spPr>
          <a:xfrm>
            <a:off x="777240" y="4297680"/>
            <a:ext cx="1060704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なぜこの宿題か</a:t>
            </a:r>
            <a:endParaRPr lang="en-US" sz="1000" dirty="0"/>
          </a:p>
        </p:txBody>
      </p:sp>
      <p:sp>
        <p:nvSpPr>
          <p:cNvPr id="7" name="Text 5"/>
          <p:cNvSpPr txBox="1"/>
          <p:nvPr/>
        </p:nvSpPr>
        <p:spPr>
          <a:xfrm>
            <a:off x="777240" y="4572000"/>
            <a:ext cx="9546336" cy="914400"/>
          </a:xfrm>
          <a:prstGeom prst="rect">
            <a:avLst/>
          </a:prstGeom>
          <a:noFill/>
          <a:ln/>
        </p:spPr>
        <p:txBody>
          <a:bodyPr wrap="square" lIns="0" tIns="0" rIns="0" bIns="0" rtlCol="0" anchor="ctr"/>
          <a:lstStyle/>
          <a:p>
            <a:pPr indent="0" marL="0">
              <a:lnSpc>
                <a:spcPct val="145000"/>
              </a:lnSpc>
              <a:buNone/>
            </a:pPr>
            <a:r>
              <a:rPr lang="en-US" sz="1350" dirty="0">
                <a:solidFill>
                  <a:srgbClr val="CFC6B8"/>
                </a:solidFill>
                <a:latin typeface="Yu Gothic" pitchFamily="34" charset="0"/>
                <a:ea typeface="Yu Gothic" pitchFamily="34" charset="-122"/>
                <a:cs typeface="Yu Gothic" pitchFamily="34" charset="-120"/>
              </a:rPr>
              <a:t>1週間流すと、想定していなかった止まり方が必ず1つ見つかります。直すのは次回で構いません。まず、どこで止まるかを知ることが目的です。</a:t>
            </a:r>
            <a:endParaRPr lang="en-US" sz="1350" dirty="0"/>
          </a:p>
        </p:txBody>
      </p:sp>
      <p:sp>
        <p:nvSpPr>
          <p:cNvPr id="8" name="Text 6"/>
          <p:cNvSpPr txBox="1"/>
          <p:nvPr/>
        </p:nvSpPr>
        <p:spPr>
          <a:xfrm>
            <a:off x="777240" y="6382512"/>
            <a:ext cx="10607040" cy="256032"/>
          </a:xfrm>
          <a:prstGeom prst="rect">
            <a:avLst/>
          </a:prstGeom>
          <a:noFill/>
          <a:ln/>
        </p:spPr>
        <p:txBody>
          <a:bodyPr wrap="square" lIns="0" tIns="0" rIns="0" bIns="0" rtlCol="0" anchor="ctr"/>
          <a:lstStyle/>
          <a:p>
            <a:pPr indent="0" marL="0">
              <a:buNone/>
            </a:pPr>
            <a:r>
              <a:rPr lang="en-US" sz="900" dirty="0">
                <a:solidFill>
                  <a:srgbClr val="6E6558"/>
                </a:solidFill>
                <a:latin typeface="Yu Gothic" pitchFamily="34" charset="0"/>
                <a:ea typeface="Yu Gothic" pitchFamily="34" charset="-122"/>
                <a:cs typeface="Yu Gothic" pitchFamily="34" charset="-120"/>
              </a:rPr>
              <a:t>第7回　手作業のつなぎ目をなくす</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第7回 手作業のつなぎ目をなくす</dc:title>
  <dc:subject>PptxGenJS Presentation</dc:subject>
  <dc:creator>経営者のためのAI実装講座</dc:creator>
  <cp:lastModifiedBy>経営者のためのAI実装講座</cp:lastModifiedBy>
  <cp:revision>1</cp:revision>
  <dcterms:created xsi:type="dcterms:W3CDTF">2026-09-12T00:20:04Z</dcterms:created>
  <dcterms:modified xsi:type="dcterms:W3CDTF">2026-09-12T00:20:04Z</dcterms:modified>
</cp:coreProperties>
</file>