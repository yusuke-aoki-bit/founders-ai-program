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実質の仕上げの回です。ここが決まると、来年も続きます。
【ゴール】社長個人の技能を、会社の仕組みに変えます。推進役・権限・費用・効果測定を決めます。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ここは30秒で。今日の到達点だけ言って、すぐ本題へ。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先に結論を言わず、受講者の実物を題材にしてこの型に当てはめて見せる。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必ず左（失敗例）から。自分の失敗として話す。うまくいく例だけ見せると、受講者は自分の失敗を言わなくなる。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ここから講師は口頭指示のみ。画面を操作するのは必ず受講者。歯がゆくても手を出さない。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ここは資料を読み上げない。自分の言葉と、匿名事例で話す。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その場でカレンダーに入れてもらう。口頭の約束で終わらせない。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960120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経営者のための AI実装講座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37160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 11 回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2286000"/>
            <a:ext cx="10607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組織に載せる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52044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C6B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講師がいなくなっても、回る形に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77240" y="4343400"/>
            <a:ext cx="10607040" cy="96012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4480560"/>
            <a:ext cx="9966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この回で手元に残るもの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4754880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推進体制図／権限・費用の管理表／効果測定シート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77724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280160"/>
            <a:ext cx="9758477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28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社長個人の技能を、会社の仕組みに変えます。推進役・権限・費用・効果測定を決めます。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77240" y="3429000"/>
            <a:ext cx="10607040" cy="18288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3657600"/>
            <a:ext cx="90159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実質の仕上げの回です。ここが決まると、来年も続きます。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4846320"/>
            <a:ext cx="10607040" cy="777240"/>
          </a:xfrm>
          <a:prstGeom prst="rect">
            <a:avLst/>
          </a:prstGeom>
          <a:solidFill>
            <a:srgbClr val="EDE7D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0120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0-15分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960120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前回の宿題を実物で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008376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15-35分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3008376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テーマとデモ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056632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35-90分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5056632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一緒に手を動かす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104888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90-105分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7104888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業務への組み込み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153144" y="4956048"/>
            <a:ext cx="19568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105-120分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9153144" y="5193792"/>
            <a:ext cx="1956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宿題・記録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今日のゴール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役割は4つ。人数は1〜2名の兼任で構いません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783080"/>
            <a:ext cx="10607040" cy="83896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33272" y="2010537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33272" y="2010537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1874520"/>
            <a:ext cx="3394253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決める人（経営者）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146243" y="1874520"/>
            <a:ext cx="5963717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予算・範囲・やめる判断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2768346"/>
            <a:ext cx="10607040" cy="83896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33272" y="2995803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33272" y="2995803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645920" y="2859786"/>
            <a:ext cx="3394253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回す人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146243" y="2859786"/>
            <a:ext cx="5963717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月次チェック、質問の一次受け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3753612"/>
            <a:ext cx="10607040" cy="83896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33272" y="3981069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33272" y="3981069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645920" y="3845052"/>
            <a:ext cx="3394253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作る人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46243" y="3845052"/>
            <a:ext cx="5963717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指示文と専用AIの改修。外注でよい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77240" y="4738878"/>
            <a:ext cx="10607040" cy="838962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033272" y="4966335"/>
            <a:ext cx="384048" cy="384048"/>
          </a:xfrm>
          <a:prstGeom prst="ellipse">
            <a:avLst/>
          </a:prstGeom>
          <a:solidFill>
            <a:srgbClr val="B04A2F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33272" y="4966335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645920" y="4830318"/>
            <a:ext cx="3394253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守る人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5146243" y="4830318"/>
            <a:ext cx="5963717" cy="6560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情報の扱い、アカウント管理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777240" y="571500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「作る人」を社内に抱えようとして止まる会社が多くあります。外注で構いません。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考え方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推進役の選び方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777240" y="1828800"/>
            <a:ext cx="4983480" cy="3566160"/>
          </a:xfrm>
          <a:prstGeom prst="rect">
            <a:avLst/>
          </a:prstGeom>
          <a:solidFill>
            <a:srgbClr val="EDE7DB"/>
          </a:solidFill>
          <a:ln w="15875">
            <a:solidFill>
              <a:srgbClr val="8A817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28800"/>
            <a:ext cx="4983480" cy="566928"/>
          </a:xfrm>
          <a:prstGeom prst="rect">
            <a:avLst/>
          </a:prstGeom>
          <a:solidFill>
            <a:srgbClr val="8A81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0584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選びがちな人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9728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ITが得意な人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若いから、という理由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本人がその業務を知らない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結果、現場とずれたものができる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0" y="1828800"/>
            <a:ext cx="4983480" cy="3566160"/>
          </a:xfrm>
          <a:prstGeom prst="rect">
            <a:avLst/>
          </a:prstGeom>
          <a:solidFill>
            <a:srgbClr val="FFFFFF"/>
          </a:solidFill>
          <a:ln w="15875">
            <a:solidFill>
              <a:srgbClr val="3B6B4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0" y="1828800"/>
            <a:ext cx="4983480" cy="566928"/>
          </a:xfrm>
          <a:prstGeom prst="rect">
            <a:avLst/>
          </a:prstGeom>
          <a:solidFill>
            <a:srgbClr val="3B6B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629400" y="1883664"/>
            <a:ext cx="4526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適任な人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720840" y="260604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その業務をいちばんよく知っている人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720840" y="3172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面倒くさがりな人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720840" y="373989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月あたりの時間を正式に割り当てる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720840" y="430682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「片手間で」は必ず失敗します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815584" y="3337560"/>
            <a:ext cx="512064" cy="512064"/>
          </a:xfrm>
          <a:prstGeom prst="ellipse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815584" y="333756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実演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640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96012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今日、一緒にやること</a:t>
            </a:r>
            <a:endParaRPr lang="en-US" sz="2700" dirty="0"/>
          </a:p>
        </p:txBody>
      </p:sp>
      <p:sp>
        <p:nvSpPr>
          <p:cNvPr id="4" name="Text 2"/>
          <p:cNvSpPr txBox="1"/>
          <p:nvPr/>
        </p:nvSpPr>
        <p:spPr>
          <a:xfrm>
            <a:off x="777240" y="1627632"/>
            <a:ext cx="10607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4F6B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55分。操作するのはご自身です。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77724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5156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体制図を書く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推進役を実名で決めます。決まらないなら、その理由を言葉にします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8912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6344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6344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権限と費用を洗う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66344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個人名義の契約が残っていないかを確認します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001000" y="2240280"/>
            <a:ext cx="338328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DE7D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75320" y="2487168"/>
            <a:ext cx="438912" cy="438912"/>
          </a:xfrm>
          <a:prstGeom prst="ellipse">
            <a:avLst/>
          </a:prstGeom>
          <a:solidFill>
            <a:srgbClr val="2F4F6B"/>
          </a:solidFill>
          <a:ln w="12700">
            <a:solidFill>
              <a:srgbClr val="2F4F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75320" y="24871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8275320" y="3035808"/>
            <a:ext cx="2834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効果測定シートを作る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8275320" y="3822192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A534A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時間・品質・範囲・金額の4行。金額だけで語りません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演習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82296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188720"/>
            <a:ext cx="95463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3201D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任せられる人がいない、なら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77240" y="2331720"/>
            <a:ext cx="64008" cy="2011680"/>
          </a:xfrm>
          <a:prstGeom prst="rect">
            <a:avLst/>
          </a:prstGeom>
          <a:solidFill>
            <a:srgbClr val="B04A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188720" y="2331720"/>
            <a:ext cx="99669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60000"/>
              </a:lnSpc>
              <a:buNone/>
            </a:pPr>
            <a:r>
              <a:rPr lang="en-US" sz="1700" dirty="0">
                <a:solidFill>
                  <a:srgbClr val="3F3933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それが本当の経営課題です。無理に決めず、「社長が続ける前提で、どこまでなら維持できるか」に切り替えます。持続可能な範囲を決めることも、立派な成果です。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6355080"/>
            <a:ext cx="7424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8202168" y="6355080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177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ここだけは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320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77240" y="1371600"/>
            <a:ext cx="10607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04A2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今日の宿題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777240" y="17830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ひとつだけ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2743200"/>
            <a:ext cx="10607040" cy="1463040"/>
          </a:xfrm>
          <a:prstGeom prst="rect">
            <a:avLst/>
          </a:prstGeom>
          <a:solidFill>
            <a:srgbClr val="2E2A26"/>
          </a:solidFill>
          <a:ln w="12700">
            <a:solidFill>
              <a:srgbClr val="B04A2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234440" y="288036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効果測定シートの「現在」の列を、実測値で埋める。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457200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15分で終わる大きさにしてあります。できなかった回があっても構いません。</a:t>
            </a:r>
            <a:endParaRPr lang="en-US" sz="13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300" dirty="0">
                <a:solidFill>
                  <a:srgbClr val="B9B0A4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2回続いたら、宿題の出し方を見直します。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6355080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E6558"/>
                </a:solidFill>
                <a:latin typeface="Yu Gothic" pitchFamily="34" charset="0"/>
                <a:ea typeface="Yu Gothic" pitchFamily="34" charset="-122"/>
                <a:cs typeface="Yu Gothic" pitchFamily="34" charset="-120"/>
              </a:rPr>
              <a:t>第11回　組織に載せる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第11回 組織に載せる</dc:title>
  <dc:subject>PptxGenJS Presentation</dc:subject>
  <dc:creator>経営者のためのAI実装講座</dc:creator>
  <cp:lastModifiedBy>経営者のためのAI実装講座</cp:lastModifiedBy>
  <cp:revision>1</cp:revision>
  <dcterms:created xsi:type="dcterms:W3CDTF">2026-09-11T15:39:17Z</dcterms:created>
  <dcterms:modified xsi:type="dcterms:W3CDTF">2026-09-11T15:39:17Z</dcterms:modified>
</cp:coreProperties>
</file>