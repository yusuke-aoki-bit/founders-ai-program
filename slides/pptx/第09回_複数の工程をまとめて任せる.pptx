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前回の宿題（不足資料1件）を確認。埋まっていれば、何が分かったかを聞く。ここから今日の多工程の話に入ると自然につながる。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「単発」と「多工程」の違いを、受講者の実業務で言い換える。見積、採用、月次処理あたりが例に使いやすい。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「決める比重が高い回」と先に断る。手を動かす時間が減ると満足度が下がりやすいので、工程図を一緒に描くことで手を動かし続ける。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「新人に3つの仕事をまとめて任せたときと同じ」という言い換えが、この回で最も効く。経営者は人に任せた経験があるので、一瞬で伝わる。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確認の位置（最上流）を指差して強調する。ここがこの回の核心。最後にだけ置く設計は、次のデモで否定する。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「整った出力ほど気づけない」は実感が湧きにくいので、実際に商品名を取り違えた稟議書を見せる。もっともらしいことを確認してもらう。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確認の回数ではなく位置、と言い切る。手間が増えないことが分かると、受講者は素直に受け入れる。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1つ目が起きたら、必ずわざと壊す。うまく動いた状態で終わらせない。壊し方を知っている人だけが直せる。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1つ目は最重要。3つの境界（金額・社外・不可逆）は、この講座を通しての判断基準になる。板書してでも残す。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確認ポイントの『回数ではなく位置』は、この回の要約。ここだけ持ち帰ってもらえれば成功。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工程図は画面共有で一緒に描く。講師が描いてしまわない。受講者の手が止まると、この回は退屈になる。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確認役を社長以外にできるかを検討する。ここで人に渡せると、第11回の体制設計が楽になる。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「発注できるようになることが目的」を明言する。作れない自分を責める必要はない、というメッセージが効く。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次回の10件は第8回のものを流用できる。負担が小さいことを伝えておく。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1回だけ、を強調する。運用に載せるのは確認ポイントが機能してから。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96012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B9B0A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経営者のための AI実装講座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3716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 9 回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286000"/>
            <a:ext cx="10607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複数の工程をまとめて任せる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35204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C6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人に仕事を任せるのと、同じ設計です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77240" y="4343400"/>
            <a:ext cx="10607040" cy="96012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97280" y="4480560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この回で手元に残るもの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4754880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工程図と「人が確認する場所」を書いた設計書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今日の出発点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単発の指示では、まだ「作業を手伝わせている」段階です。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83080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783080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1783080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「文章を書いて」は単発。1回で終わる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77240" y="2624328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51560" y="2624328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508760" y="2624328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「見積を出して、根拠を集めて、稟議の形にして、確認を求めて」は多工程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77240" y="3465576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51560" y="3465576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3465576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後者は途中で判断が挟まるので、渡し方を設計しないと必ず壊れます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77240" y="4526280"/>
            <a:ext cx="10607040" cy="914400"/>
          </a:xfrm>
          <a:prstGeom prst="rect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143000" y="452628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今日からは、手順のある仕事をまとめて渡します。任せ方の設計が要ります。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第9回　複数の工程をまとめて任せる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出発点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今日のゴール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43000"/>
            <a:ext cx="9864547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3工程以上ある仕事をAIに渡す設計ができるようにします。どこで人が止めるかを決めます。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3063240"/>
            <a:ext cx="10607040" cy="18288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3291840"/>
            <a:ext cx="93341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今日は「作る」より「決める」比重が高くなります。手が止まらないよう、工程図を一緒に描きながら進めます。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777240" y="4754880"/>
            <a:ext cx="10607040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0-15分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前回の宿題を実物で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008376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15-35分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3008376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テーマとデモ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056632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35-90分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5056632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一緒に手を動かす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104888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90-105分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7104888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業務への組み込み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9153144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105-120分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9153144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宿題・記録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第9回　複数の工程をまとめて任せる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ゴール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多工程は、3通りの壊れ方をします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00784"/>
            <a:ext cx="106070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4984" y="2112264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14984" y="21122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1773936"/>
            <a:ext cx="318211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前提の引き継ぎ漏れ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4888382" y="1773936"/>
            <a:ext cx="626729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工程2が、工程1の条件を忘れます。各工程の出力に前提を再掲させます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77240" y="3017520"/>
            <a:ext cx="106070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4984" y="3429000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14984" y="3429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600200" y="3090672"/>
            <a:ext cx="318211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誤りの増幅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4888382" y="3090672"/>
            <a:ext cx="626729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工程1の小さな誤りが、最後に致命傷になります。だから確認は最も上流に置きます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77240" y="4334256"/>
            <a:ext cx="106070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14984" y="4745736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14984" y="47457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600200" y="4407408"/>
            <a:ext cx="318211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勝手な範囲拡大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4888382" y="4407408"/>
            <a:ext cx="626729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頼んでいないことまでやります。各工程に「やらないこと」を書きます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566928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新人に3つの仕事をまとめて任せたときに起きることと、まったく同じです。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第9回　複数の工程をまとめて任せる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あてはめ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設計書は、この形で書きます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10607040" cy="3931920"/>
          </a:xfrm>
          <a:prstGeom prst="rect">
            <a:avLst/>
          </a:prstGeom>
          <a:solidFill>
            <a:srgbClr val="FFFFFF"/>
          </a:solidFill>
          <a:ln w="15875">
            <a:solidFill>
              <a:srgbClr val="2F4F6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691640"/>
            <a:ext cx="10607040" cy="457200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1709928"/>
            <a:ext cx="10058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多工程タスク設計書（記入例：見積の作成）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331720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工程1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3291840" y="2331720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類似案件を過去実績から3件探す／やらないこと：金額の算出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862072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└ 人の確認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291840" y="2862072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要。社長が案件の妥当性を見る（← ここが最上流）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392424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工程2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291840" y="3392424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材料費と工数から概算を出す／やらないこと：値引きの判断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3922776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└ 人の確認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291840" y="3922776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不要（工程3で最終確認するため）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453128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工程3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291840" y="4453128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稟議の形式に整える／やらないこと：送信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4983480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└ 人の確認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3291840" y="4983480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要。金額が確定するため、社長が承認してから提出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5769864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確認を最後にだけ置くと、そこまでに誤りが増幅しています。上流に1つ置くほうが、結果的に手間が減ります。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第9回　複数の工程をまとめて任せる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あてはめ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①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確認を最後にだけ置いた場合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4879238" cy="1371600"/>
          </a:xfrm>
          <a:prstGeom prst="rect">
            <a:avLst/>
          </a:prstGeom>
          <a:solidFill>
            <a:srgbClr val="EDE7DB"/>
          </a:solidFill>
          <a:ln w="15875">
            <a:solidFill>
              <a:srgbClr val="8A817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084832"/>
            <a:ext cx="4422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工程1→2→3を通しで実行し、出てきたものを最後に確認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80760" y="1691640"/>
            <a:ext cx="5303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0936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出てくるもの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14884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・工程1で商品名を取り違えている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2752344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・その前提で工程2が金額を計算する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335584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・工程3が、それらしい稟議書に仕上げる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395935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・最後に見ても、もっともらしいので気づけない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3291840"/>
            <a:ext cx="4879238" cy="1417320"/>
          </a:xfrm>
          <a:prstGeom prst="rect">
            <a:avLst/>
          </a:prstGeom>
          <a:solidFill>
            <a:srgbClr val="E4DF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05840" y="3383280"/>
            <a:ext cx="44220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最後の出力は整っています。整っているからこそ、上流の誤りに気づけません。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4983480"/>
            <a:ext cx="10607040" cy="685800"/>
          </a:xfrm>
          <a:prstGeom prst="rect">
            <a:avLst/>
          </a:prstGeom>
          <a:solidFill>
            <a:srgbClr val="8A81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983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整った出力ほど、上流の誤りが見えなくなります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第9回　複数の工程をまとめて任せる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①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②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確認を最上流に置いた場合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4879238" cy="1371600"/>
          </a:xfrm>
          <a:prstGeom prst="rect">
            <a:avLst/>
          </a:prstGeom>
          <a:solidFill>
            <a:srgbClr val="FFFFFF"/>
          </a:solidFill>
          <a:ln w="15875">
            <a:solidFill>
              <a:srgbClr val="3B6B4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084832"/>
            <a:ext cx="4422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工程1の直後に人が1回見る。以降は通しで実行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80760" y="1691640"/>
            <a:ext cx="5303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0936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出てくるもの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14884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・取り違えが、30秒で見つかる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2752344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・以降の工程はすべて正しい前提で動く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335584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・確認は1回だけで済む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395935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・事故が起きなくなる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3291840"/>
            <a:ext cx="4879238" cy="1417320"/>
          </a:xfrm>
          <a:prstGeom prst="rect">
            <a:avLst/>
          </a:prstGeom>
          <a:solidFill>
            <a:srgbClr val="E7F0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05840" y="3383280"/>
            <a:ext cx="44220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確認の回数を増やすのではなく、置く場所を変えるだけです。手間は増えません。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4983480"/>
            <a:ext cx="10607040" cy="6858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983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確認は「回数」ではなく「位置」で効きます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第9回　複数の工程をまとめて任せる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②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つまずきやすいところ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この回で、よく起きること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3736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8562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2121408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一発でうまく動いてしまった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762549" y="1847088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080760" y="18562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080760" y="2121408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わざと壊します。入力を1つ欠けさせる、条件を矛盾させる。壊れ方を見ていない設計は、本番で壊れます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77240" y="2944368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51560" y="30632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3328416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工程を分けず、1つの長い指示にしたがる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762549" y="3054096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080760" y="30632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6080760" y="3328416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やらせてみて、直しにくさを体験していただきます。説得より体験のほうが早く伝わります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77240" y="4151376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51560" y="42702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4535424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「作る」時間が少なく満足度が下がる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5762549" y="4261104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080760" y="42702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6080760" y="4535424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工程図を画面共有で一緒に描き、常に手が動いている状態を保ちます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第9回　複数の工程をまとめて任せる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つまずき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想定問答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この回で、よく聞かれること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37360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37360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97280" y="1828800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「どこまで任せていいのか、基準はありますか」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231136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失敗したときの損害で決めます。取り返しがつくものは任せ、つかないものは任せません。金額・社外・不可逆の3つが境界です。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3035808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7240" y="3035808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97280" y="3127248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「エージェント機能を使えばいいのでは」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529584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使って構いません。ただし任せる範囲と確認ポイントの設計は同じです。機能が変わっても、設計は変わりません。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334256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7240" y="4334256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97280" y="4425696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「設計書は誰のために書くのですか」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828032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担当者が替わったときのためです。頭の中にしかない設計は、引き継げません。第11回の体制設計でも使います。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第9回　複数の工程をまとめて任せる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想定問答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用語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今日出てきた言葉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82880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" y="192024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多工程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065422" y="195681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383634" y="192024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複数の手順がつながった仕事。途中で判断が挟まるので設計が要ります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306324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97280" y="315468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確認ポイント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065422" y="319125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383634" y="315468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人が止める場所。最も上流に置きます。回数ではなく位置で効きます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29768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97280" y="438912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エージェント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065422" y="442569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383634" y="438912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複数の工程を続けて実行させる使い方。設計の考え方は同じです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562356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配布した用語辞典にも同じものが載っています。覚える必要はありません。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第9回　複数の工程をまとめて任せる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用語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今日、一緒にやること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55分。操作するのはご自身です。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2148840"/>
            <a:ext cx="2528316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2944368"/>
            <a:ext cx="19796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工程図を描く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3703320"/>
            <a:ext cx="197967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AIに任せる／人が確認する／人がやる、に仕分けます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470148" y="2148840"/>
            <a:ext cx="2528316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744468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744468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3744468" y="2944368"/>
            <a:ext cx="19796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通しで流す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3744468" y="3703320"/>
            <a:ext cx="197967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工程ごとに会話を分け、前の出力を次の冒頭に貼って順に流します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163056" y="2148840"/>
            <a:ext cx="2528316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37376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37376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437376" y="2944368"/>
            <a:ext cx="19796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わざと壊す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437376" y="3703320"/>
            <a:ext cx="197967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入力を1つ欠けさせて、どこで止まるか・どこで気づけるかを確かめます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855964" y="2148840"/>
            <a:ext cx="2528316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130284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130284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9130284" y="2944368"/>
            <a:ext cx="19796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確認ポイントを入れる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9130284" y="3703320"/>
            <a:ext cx="197967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いちばん上流に、人が見る場所を1つ置き直します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第9回　複数の工程をまとめて任せる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業務への組み込み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帰る前に決めること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ここを決めないと、持ち帰っても使われません。紙に書きます。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210312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10312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43000" y="217627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確認役は誰か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006901" y="217627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最上流の確認を、誰がやるか。社長でなくても構いません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77240" y="315468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7240" y="315468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143000" y="322783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いつ本番で流すか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006901" y="322783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来週の実案件で1回。テストのままにしません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420624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77240" y="420624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143000" y="427939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壊れたらどうするか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006901" y="427939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手動に戻す手順を、確認役の方に共有します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第9回　複数の工程をまとめて任せる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組み込み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09728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実装は、外に頼んでも構いません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2148840"/>
            <a:ext cx="64008" cy="2194560"/>
          </a:xfrm>
          <a:prstGeom prst="rect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88720" y="2148840"/>
            <a:ext cx="9966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16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設計ができることが目的です。工程を分け、確認ポイントを置ける。それができれば、実装を外注する判断も正解のひとつです。むしろ、何をどう頼めばよいかが分かっている発注者は、外注先から見ても仕事がしやすい相手です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777240" y="4709160"/>
            <a:ext cx="10607040" cy="96012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480060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よくある型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5029200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多工程では、上流の取り違え（品番・商品名）が最後まで残る。工程1の直後に確認を1つ置くだけで、事故はほぼ止まる。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第9回　複数の工程をまとめて任せる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次回は「品質を測る・壊れたら気づく」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9546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次回は、上級編でいちばん差がつく回です。「なんとなく良くなった」を終わらせます。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2240280"/>
            <a:ext cx="4985309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2377440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次回までにやること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2743200"/>
            <a:ext cx="4436669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設計した多工程の仕事を、1回だけ本番で流す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398971" y="2240280"/>
            <a:ext cx="4985309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673291" y="2377440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次回の持ち物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6673291" y="2743200"/>
            <a:ext cx="4436669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・社内で実際に出た質問・依頼 10件（第8回で集めたものでも構いません）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77240" y="4800600"/>
            <a:ext cx="10607040" cy="77724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97280" y="480060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この内容は、次回の3日前にあらためてお送りします。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第9回　複数の工程をまとめて任せる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128016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今日の宿題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6916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ひとつだけ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77240" y="2651760"/>
            <a:ext cx="10607040" cy="137160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34440" y="27432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設計した多工程の仕事を、1回だけ本番で流す。確認ポイントで必ず人が見る。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42976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なぜこの宿題か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4572000"/>
            <a:ext cx="95463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350" dirty="0">
                <a:solidFill>
                  <a:srgbClr val="CFC6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設計は、本番で1回流すまで机上の空論です。確認ポイントが実際に機能したかどうかを、次回お聞かせください。機能しなかった場合は、置く位置を変えます。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6382512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55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第9回　複数の工程をまとめて任せる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第9回 複数の工程をまとめて任せる</dc:title>
  <dc:subject>PptxGenJS Presentation</dc:subject>
  <dc:creator>経営者のためのAI実装講座</dc:creator>
  <cp:lastModifiedBy>経営者のためのAI実装講座</cp:lastModifiedBy>
  <cp:revision>1</cp:revision>
  <dcterms:created xsi:type="dcterms:W3CDTF">2026-09-12T03:05:52Z</dcterms:created>
  <dcterms:modified xsi:type="dcterms:W3CDTF">2026-09-12T03:05:52Z</dcterms:modified>
</cp:coreProperties>
</file>