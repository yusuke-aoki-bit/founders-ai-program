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前回の宿題（自動化を1週間流したか）を確認。止まった記録があれば、その場で一緒に原因を見る。直すのはここでよい。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「あれどこでしたっけ」が週に何回起きているかを聞く。数を言語化すると、この回の価値が伝わる。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「作ることより、答えられなかった質問を集めることに価値がある」と先に言う。これを言っておかないと、精度が出なかったときに失敗した気分になる。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△を×と混同させない。ここが今日いちばん大事な概念。「答えられない」と言えることが正しい、という価値観を渡す。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5列の表を見せながら、右2列（誰が・いつまでに）が空欄だと永久に埋まらないことを言う。第11回の体制設計につながる伏線。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「全部入れたい」と言われたら、実際に全部入れて精度が落ちるところを見せるのが最も早い。説得より実証。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8件取れたら喜ぶ。ただし△2件を「足りない資料が2つ見つかった」と読み替えて見せる。ここで価値の転換が起きる。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1つ目は頻出。スキャン画像の山を前に固まらない。この回で全部やろうとせず、リストに送る判断を見せる。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1つ目は必ず出る。説得より実証。その場で全部入れて精度が落ちるのを見せるのが最速。3つ目は価値の転換点なので、丁寧に。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不足資料リストを『事業承継の課題リスト』と言い換えると、経営者の関心が跳ね上がる。ここは急がない。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10問は必ず投げる。感想で終わらせない。数えることで、次回以降の比較ができるようになる。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更新担当を決める。ここが空欄のナレッジは半年で腐る、と明言する。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経営者の関心が最も高まる場面。事業承継の話に接続すると、講座の位置づけが一段上がる。急がず時間を取る。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次回の業務選びが演習の質を決める。3工程以上、を具体例で示しておく。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「最も簡単な1件」を一緒に選ぶ。難しいものを選ぶと止まる。選ぶところまでを今日やる。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960120"/>
            <a:ext cx="10607040" cy="320040"/>
          </a:xfrm>
          <a:prstGeom prst="rect">
            <a:avLst/>
          </a:prstGeom>
          <a:noFill/>
          <a:ln/>
        </p:spPr>
        <p:txBody>
          <a:bodyPr wrap="square" lIns="0" tIns="0" rIns="0" bIns="0" rtlCol="0" anchor="ctr"/>
          <a:lstStyle/>
          <a:p>
            <a:pPr indent="0" marL="0">
              <a:buNone/>
            </a:pPr>
            <a:r>
              <a:rPr lang="en-US" sz="1200" spc="300" kern="0" dirty="0">
                <a:solidFill>
                  <a:srgbClr val="B9B0A4"/>
                </a:solidFill>
                <a:latin typeface="Yu Gothic" pitchFamily="34" charset="0"/>
                <a:ea typeface="Yu Gothic" pitchFamily="34" charset="-122"/>
                <a:cs typeface="Yu Gothic" pitchFamily="34" charset="-120"/>
              </a:rPr>
              <a:t>経営者のための AI実装講座</a:t>
            </a:r>
            <a:endParaRPr lang="en-US" sz="1200" dirty="0"/>
          </a:p>
        </p:txBody>
      </p:sp>
      <p:sp>
        <p:nvSpPr>
          <p:cNvPr id="3" name="Text 1"/>
          <p:cNvSpPr txBox="1"/>
          <p:nvPr/>
        </p:nvSpPr>
        <p:spPr>
          <a:xfrm>
            <a:off x="777240" y="1371600"/>
            <a:ext cx="3657600" cy="822960"/>
          </a:xfrm>
          <a:prstGeom prst="rect">
            <a:avLst/>
          </a:prstGeom>
          <a:noFill/>
          <a:ln/>
        </p:spPr>
        <p:txBody>
          <a:bodyPr wrap="square" lIns="0" tIns="0" rIns="0" bIns="0" rtlCol="0" anchor="ctr"/>
          <a:lstStyle/>
          <a:p>
            <a:pPr indent="0" marL="0">
              <a:buNone/>
            </a:pPr>
            <a:r>
              <a:rPr lang="en-US" sz="4400" b="1" dirty="0">
                <a:solidFill>
                  <a:srgbClr val="B04A2F"/>
                </a:solidFill>
                <a:latin typeface="Yu Gothic" pitchFamily="34" charset="0"/>
                <a:ea typeface="Yu Gothic" pitchFamily="34" charset="-122"/>
                <a:cs typeface="Yu Gothic" pitchFamily="34" charset="-120"/>
              </a:rPr>
              <a:t>第 8 回</a:t>
            </a:r>
            <a:endParaRPr lang="en-US" sz="4400" dirty="0"/>
          </a:p>
        </p:txBody>
      </p:sp>
      <p:sp>
        <p:nvSpPr>
          <p:cNvPr id="4" name="Text 2"/>
          <p:cNvSpPr txBox="1"/>
          <p:nvPr/>
        </p:nvSpPr>
        <p:spPr>
          <a:xfrm>
            <a:off x="777240" y="2286000"/>
            <a:ext cx="10607040" cy="118872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Yu Gothic" pitchFamily="34" charset="0"/>
                <a:ea typeface="Yu Gothic" pitchFamily="34" charset="-122"/>
                <a:cs typeface="Yu Gothic" pitchFamily="34" charset="-120"/>
              </a:rPr>
              <a:t>社内の知識を検索できるようにする</a:t>
            </a:r>
            <a:endParaRPr lang="en-US" sz="3600" dirty="0"/>
          </a:p>
        </p:txBody>
      </p:sp>
      <p:sp>
        <p:nvSpPr>
          <p:cNvPr id="5" name="Text 3"/>
          <p:cNvSpPr txBox="1"/>
          <p:nvPr/>
        </p:nvSpPr>
        <p:spPr>
          <a:xfrm>
            <a:off x="777240" y="3520440"/>
            <a:ext cx="10607040" cy="457200"/>
          </a:xfrm>
          <a:prstGeom prst="rect">
            <a:avLst/>
          </a:prstGeom>
          <a:noFill/>
          <a:ln/>
        </p:spPr>
        <p:txBody>
          <a:bodyPr wrap="square" lIns="0" tIns="0" rIns="0" bIns="0" rtlCol="0" anchor="ctr"/>
          <a:lstStyle/>
          <a:p>
            <a:pPr indent="0" marL="0">
              <a:buNone/>
            </a:pPr>
            <a:r>
              <a:rPr lang="en-US" sz="1700" dirty="0">
                <a:solidFill>
                  <a:srgbClr val="CFC6B8"/>
                </a:solidFill>
                <a:latin typeface="Yu Gothic" pitchFamily="34" charset="0"/>
                <a:ea typeface="Yu Gothic" pitchFamily="34" charset="-122"/>
                <a:cs typeface="Yu Gothic" pitchFamily="34" charset="-120"/>
              </a:rPr>
              <a:t>「あの資料どこ」を、社内から減らします</a:t>
            </a:r>
            <a:endParaRPr lang="en-US" sz="1700" dirty="0"/>
          </a:p>
        </p:txBody>
      </p:sp>
      <p:sp>
        <p:nvSpPr>
          <p:cNvPr id="6" name="Shape 4"/>
          <p:cNvSpPr/>
          <p:nvPr/>
        </p:nvSpPr>
        <p:spPr>
          <a:xfrm>
            <a:off x="777240" y="4343400"/>
            <a:ext cx="10607040" cy="960120"/>
          </a:xfrm>
          <a:prstGeom prst="rect">
            <a:avLst/>
          </a:prstGeom>
          <a:solidFill>
            <a:srgbClr val="2E2A26"/>
          </a:solidFill>
          <a:ln w="12700">
            <a:solidFill>
              <a:srgbClr val="B04A2F"/>
            </a:solidFill>
            <a:prstDash val="solid"/>
          </a:ln>
        </p:spPr>
      </p:sp>
      <p:sp>
        <p:nvSpPr>
          <p:cNvPr id="7" name="Text 5"/>
          <p:cNvSpPr txBox="1"/>
          <p:nvPr/>
        </p:nvSpPr>
        <p:spPr>
          <a:xfrm>
            <a:off x="1097280" y="4480560"/>
            <a:ext cx="996696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この回で手元に残るもの</a:t>
            </a:r>
            <a:endParaRPr lang="en-US" sz="1000" dirty="0"/>
          </a:p>
        </p:txBody>
      </p:sp>
      <p:sp>
        <p:nvSpPr>
          <p:cNvPr id="8" name="Text 6"/>
          <p:cNvSpPr txBox="1"/>
          <p:nvPr/>
        </p:nvSpPr>
        <p:spPr>
          <a:xfrm>
            <a:off x="1097280" y="4754880"/>
            <a:ext cx="9966960" cy="41148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社内資料を検索できるAI／足りない資料の一覧</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今日の出発点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知識が、特定の人の頭の中にしかありません。</a:t>
            </a:r>
            <a:endParaRPr lang="en-US" sz="2600" dirty="0"/>
          </a:p>
        </p:txBody>
      </p:sp>
      <p:sp>
        <p:nvSpPr>
          <p:cNvPr id="4" name="Shape 2"/>
          <p:cNvSpPr/>
          <p:nvPr/>
        </p:nvSpPr>
        <p:spPr>
          <a:xfrm>
            <a:off x="777240" y="1783080"/>
            <a:ext cx="10607040" cy="713232"/>
          </a:xfrm>
          <a:prstGeom prst="rect">
            <a:avLst/>
          </a:prstGeom>
          <a:solidFill>
            <a:srgbClr val="FFFFFF"/>
          </a:solidFill>
          <a:ln w="12700">
            <a:solidFill>
              <a:srgbClr val="EDE7DB"/>
            </a:solidFill>
            <a:prstDash val="solid"/>
          </a:ln>
        </p:spPr>
      </p:sp>
      <p:sp>
        <p:nvSpPr>
          <p:cNvPr id="5" name="Text 3"/>
          <p:cNvSpPr txBox="1"/>
          <p:nvPr/>
        </p:nvSpPr>
        <p:spPr>
          <a:xfrm>
            <a:off x="1051560" y="1783080"/>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6" name="Text 4"/>
          <p:cNvSpPr txBox="1"/>
          <p:nvPr/>
        </p:nvSpPr>
        <p:spPr>
          <a:xfrm>
            <a:off x="1508760" y="1783080"/>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「あれ、どこにありましたっけ」が毎週起きている</a:t>
            </a:r>
            <a:endParaRPr lang="en-US" sz="1500" dirty="0"/>
          </a:p>
        </p:txBody>
      </p:sp>
      <p:sp>
        <p:nvSpPr>
          <p:cNvPr id="7" name="Shape 5"/>
          <p:cNvSpPr/>
          <p:nvPr/>
        </p:nvSpPr>
        <p:spPr>
          <a:xfrm>
            <a:off x="777240" y="2624328"/>
            <a:ext cx="10607040" cy="713232"/>
          </a:xfrm>
          <a:prstGeom prst="rect">
            <a:avLst/>
          </a:prstGeom>
          <a:solidFill>
            <a:srgbClr val="FFFFFF"/>
          </a:solidFill>
          <a:ln w="12700">
            <a:solidFill>
              <a:srgbClr val="EDE7DB"/>
            </a:solidFill>
            <a:prstDash val="solid"/>
          </a:ln>
        </p:spPr>
      </p:sp>
      <p:sp>
        <p:nvSpPr>
          <p:cNvPr id="8" name="Text 6"/>
          <p:cNvSpPr txBox="1"/>
          <p:nvPr/>
        </p:nvSpPr>
        <p:spPr>
          <a:xfrm>
            <a:off x="1051560" y="2624328"/>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9" name="Text 7"/>
          <p:cNvSpPr txBox="1"/>
          <p:nvPr/>
        </p:nvSpPr>
        <p:spPr>
          <a:xfrm>
            <a:off x="1508760" y="2624328"/>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社長に聞かないと分からないことが、いくつもある</a:t>
            </a:r>
            <a:endParaRPr lang="en-US" sz="1500" dirty="0"/>
          </a:p>
        </p:txBody>
      </p:sp>
      <p:sp>
        <p:nvSpPr>
          <p:cNvPr id="10" name="Shape 8"/>
          <p:cNvSpPr/>
          <p:nvPr/>
        </p:nvSpPr>
        <p:spPr>
          <a:xfrm>
            <a:off x="777240" y="3465576"/>
            <a:ext cx="10607040" cy="713232"/>
          </a:xfrm>
          <a:prstGeom prst="rect">
            <a:avLst/>
          </a:prstGeom>
          <a:solidFill>
            <a:srgbClr val="FFFFFF"/>
          </a:solidFill>
          <a:ln w="12700">
            <a:solidFill>
              <a:srgbClr val="EDE7DB"/>
            </a:solidFill>
            <a:prstDash val="solid"/>
          </a:ln>
        </p:spPr>
      </p:sp>
      <p:sp>
        <p:nvSpPr>
          <p:cNvPr id="11" name="Text 9"/>
          <p:cNvSpPr txBox="1"/>
          <p:nvPr/>
        </p:nvSpPr>
        <p:spPr>
          <a:xfrm>
            <a:off x="1051560" y="3465576"/>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12" name="Text 10"/>
          <p:cNvSpPr txBox="1"/>
          <p:nvPr/>
        </p:nvSpPr>
        <p:spPr>
          <a:xfrm>
            <a:off x="1508760" y="3465576"/>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定着を阻む要因として、ノウハウの偏在は調査でも上位に入ります</a:t>
            </a:r>
            <a:endParaRPr lang="en-US" sz="1500" dirty="0"/>
          </a:p>
        </p:txBody>
      </p:sp>
      <p:sp>
        <p:nvSpPr>
          <p:cNvPr id="13" name="Shape 11"/>
          <p:cNvSpPr/>
          <p:nvPr/>
        </p:nvSpPr>
        <p:spPr>
          <a:xfrm>
            <a:off x="777240" y="4526280"/>
            <a:ext cx="10607040" cy="914400"/>
          </a:xfrm>
          <a:prstGeom prst="rect">
            <a:avLst/>
          </a:prstGeom>
          <a:solidFill>
            <a:srgbClr val="B04A2F"/>
          </a:solidFill>
          <a:ln w="12700">
            <a:solidFill>
              <a:srgbClr val="333333"/>
            </a:solidFill>
            <a:prstDash val="solid"/>
          </a:ln>
        </p:spPr>
      </p:sp>
      <p:sp>
        <p:nvSpPr>
          <p:cNvPr id="14" name="Text 12"/>
          <p:cNvSpPr txBox="1"/>
          <p:nvPr/>
        </p:nvSpPr>
        <p:spPr>
          <a:xfrm>
            <a:off x="1143000" y="4526280"/>
            <a:ext cx="9875520" cy="914400"/>
          </a:xfrm>
          <a:prstGeom prst="rect">
            <a:avLst/>
          </a:prstGeom>
          <a:noFill/>
          <a:ln/>
        </p:spPr>
        <p:txBody>
          <a:bodyPr wrap="square" lIns="0" tIns="0" rIns="0" bIns="0" rtlCol="0" anchor="ctr"/>
          <a:lstStyle/>
          <a:p>
            <a:pPr indent="0" marL="0">
              <a:lnSpc>
                <a:spcPct val="130000"/>
              </a:lnSpc>
              <a:buNone/>
            </a:pPr>
            <a:r>
              <a:rPr lang="en-US" sz="1800" b="1" dirty="0">
                <a:solidFill>
                  <a:srgbClr val="FFFFFF"/>
                </a:solidFill>
                <a:latin typeface="Yu Gothic" pitchFamily="34" charset="0"/>
                <a:ea typeface="Yu Gothic" pitchFamily="34" charset="-122"/>
                <a:cs typeface="Yu Gothic" pitchFamily="34" charset="-120"/>
              </a:rPr>
              <a:t>今日つくるのは検索AIですが、本当の成果物は「足りない資料の一覧」です。</a:t>
            </a:r>
            <a:endParaRPr lang="en-US" sz="1800" dirty="0"/>
          </a:p>
        </p:txBody>
      </p:sp>
      <p:sp>
        <p:nvSpPr>
          <p:cNvPr id="15" name="Text 13"/>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6" name="Text 14"/>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出発点</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今日のゴール</a:t>
            </a:r>
            <a:endParaRPr lang="en-US" sz="1100" dirty="0"/>
          </a:p>
        </p:txBody>
      </p:sp>
      <p:sp>
        <p:nvSpPr>
          <p:cNvPr id="3" name="Text 1"/>
          <p:cNvSpPr txBox="1"/>
          <p:nvPr/>
        </p:nvSpPr>
        <p:spPr>
          <a:xfrm>
            <a:off x="777240" y="1143000"/>
            <a:ext cx="9864547" cy="1645920"/>
          </a:xfrm>
          <a:prstGeom prst="rect">
            <a:avLst/>
          </a:prstGeom>
          <a:noFill/>
          <a:ln/>
        </p:spPr>
        <p:txBody>
          <a:bodyPr wrap="square" lIns="0" tIns="0" rIns="0" bIns="0" rtlCol="0" anchor="ctr"/>
          <a:lstStyle/>
          <a:p>
            <a:pPr indent="0" marL="0">
              <a:lnSpc>
                <a:spcPct val="145000"/>
              </a:lnSpc>
              <a:buNone/>
            </a:pPr>
            <a:r>
              <a:rPr lang="en-US" sz="2600" b="1" dirty="0">
                <a:solidFill>
                  <a:srgbClr val="23201D"/>
                </a:solidFill>
                <a:latin typeface="Yu Gothic" pitchFamily="34" charset="0"/>
                <a:ea typeface="Yu Gothic" pitchFamily="34" charset="-122"/>
                <a:cs typeface="Yu Gothic" pitchFamily="34" charset="-120"/>
              </a:rPr>
              <a:t>1つの領域について、社内資料を検索できるAIを動かします。あわせて、何が足りないかを可視化します。</a:t>
            </a:r>
            <a:endParaRPr lang="en-US" sz="2600" dirty="0"/>
          </a:p>
        </p:txBody>
      </p:sp>
      <p:sp>
        <p:nvSpPr>
          <p:cNvPr id="4" name="Shape 2"/>
          <p:cNvSpPr/>
          <p:nvPr/>
        </p:nvSpPr>
        <p:spPr>
          <a:xfrm>
            <a:off x="777240" y="3063240"/>
            <a:ext cx="10607040" cy="18288"/>
          </a:xfrm>
          <a:prstGeom prst="rect">
            <a:avLst/>
          </a:prstGeom>
          <a:solidFill>
            <a:srgbClr val="EDE7DB"/>
          </a:solidFill>
          <a:ln w="12700">
            <a:solidFill>
              <a:srgbClr val="333333"/>
            </a:solidFill>
            <a:prstDash val="solid"/>
          </a:ln>
        </p:spPr>
      </p:sp>
      <p:sp>
        <p:nvSpPr>
          <p:cNvPr id="5" name="Text 3"/>
          <p:cNvSpPr txBox="1"/>
          <p:nvPr/>
        </p:nvSpPr>
        <p:spPr>
          <a:xfrm>
            <a:off x="777240" y="3291840"/>
            <a:ext cx="9334195" cy="1005840"/>
          </a:xfrm>
          <a:prstGeom prst="rect">
            <a:avLst/>
          </a:prstGeom>
          <a:noFill/>
          <a:ln/>
        </p:spPr>
        <p:txBody>
          <a:bodyPr wrap="square" lIns="0" tIns="0" rIns="0" bIns="0" rtlCol="0" anchor="ctr"/>
          <a:lstStyle/>
          <a:p>
            <a:pPr indent="0" marL="0">
              <a:lnSpc>
                <a:spcPct val="140000"/>
              </a:lnSpc>
              <a:buNone/>
            </a:pPr>
            <a:r>
              <a:rPr lang="en-US" sz="1450" dirty="0">
                <a:solidFill>
                  <a:srgbClr val="5A534A"/>
                </a:solidFill>
                <a:latin typeface="Yu Gothic" pitchFamily="34" charset="0"/>
                <a:ea typeface="Yu Gothic" pitchFamily="34" charset="-122"/>
                <a:cs typeface="Yu Gothic" pitchFamily="34" charset="-120"/>
              </a:rPr>
              <a:t>今日は、作ることより「答えられなかった質問」を集めることに価値があります。</a:t>
            </a:r>
            <a:endParaRPr lang="en-US" sz="1450" dirty="0"/>
          </a:p>
        </p:txBody>
      </p:sp>
      <p:sp>
        <p:nvSpPr>
          <p:cNvPr id="6" name="Shape 4"/>
          <p:cNvSpPr/>
          <p:nvPr/>
        </p:nvSpPr>
        <p:spPr>
          <a:xfrm>
            <a:off x="777240" y="4754880"/>
            <a:ext cx="10607040" cy="822960"/>
          </a:xfrm>
          <a:prstGeom prst="rect">
            <a:avLst/>
          </a:prstGeom>
          <a:solidFill>
            <a:srgbClr val="EDE7DB"/>
          </a:solidFill>
          <a:ln w="12700">
            <a:solidFill>
              <a:srgbClr val="333333"/>
            </a:solidFill>
            <a:prstDash val="solid"/>
          </a:ln>
        </p:spPr>
      </p:sp>
      <p:sp>
        <p:nvSpPr>
          <p:cNvPr id="7" name="Text 5"/>
          <p:cNvSpPr txBox="1"/>
          <p:nvPr/>
        </p:nvSpPr>
        <p:spPr>
          <a:xfrm>
            <a:off x="960120" y="4873752"/>
            <a:ext cx="2468880"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0-15分</a:t>
            </a:r>
            <a:endParaRPr lang="en-US" sz="900" dirty="0"/>
          </a:p>
        </p:txBody>
      </p:sp>
      <p:sp>
        <p:nvSpPr>
          <p:cNvPr id="8" name="Text 6"/>
          <p:cNvSpPr txBox="1"/>
          <p:nvPr/>
        </p:nvSpPr>
        <p:spPr>
          <a:xfrm>
            <a:off x="960120" y="5111496"/>
            <a:ext cx="2468880"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前回の宿題を実物で</a:t>
            </a:r>
            <a:endParaRPr lang="en-US" sz="1100" dirty="0"/>
          </a:p>
        </p:txBody>
      </p:sp>
      <p:sp>
        <p:nvSpPr>
          <p:cNvPr id="9" name="Text 7"/>
          <p:cNvSpPr txBox="1"/>
          <p:nvPr/>
        </p:nvSpPr>
        <p:spPr>
          <a:xfrm>
            <a:off x="3520440" y="4873752"/>
            <a:ext cx="2468880"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15-35分</a:t>
            </a:r>
            <a:endParaRPr lang="en-US" sz="900" dirty="0"/>
          </a:p>
        </p:txBody>
      </p:sp>
      <p:sp>
        <p:nvSpPr>
          <p:cNvPr id="10" name="Text 8"/>
          <p:cNvSpPr txBox="1"/>
          <p:nvPr/>
        </p:nvSpPr>
        <p:spPr>
          <a:xfrm>
            <a:off x="3520440" y="5111496"/>
            <a:ext cx="2468880"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テーマとデモ</a:t>
            </a:r>
            <a:endParaRPr lang="en-US" sz="1100" dirty="0"/>
          </a:p>
        </p:txBody>
      </p:sp>
      <p:sp>
        <p:nvSpPr>
          <p:cNvPr id="11" name="Text 9"/>
          <p:cNvSpPr txBox="1"/>
          <p:nvPr/>
        </p:nvSpPr>
        <p:spPr>
          <a:xfrm>
            <a:off x="6080760" y="4873752"/>
            <a:ext cx="2468880"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35-100分</a:t>
            </a:r>
            <a:endParaRPr lang="en-US" sz="900" dirty="0"/>
          </a:p>
        </p:txBody>
      </p:sp>
      <p:sp>
        <p:nvSpPr>
          <p:cNvPr id="12" name="Text 10"/>
          <p:cNvSpPr txBox="1"/>
          <p:nvPr/>
        </p:nvSpPr>
        <p:spPr>
          <a:xfrm>
            <a:off x="6080760" y="5111496"/>
            <a:ext cx="2468880"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一緒に手を動かす</a:t>
            </a:r>
            <a:endParaRPr lang="en-US" sz="1100" dirty="0"/>
          </a:p>
        </p:txBody>
      </p:sp>
      <p:sp>
        <p:nvSpPr>
          <p:cNvPr id="13" name="Text 11"/>
          <p:cNvSpPr txBox="1"/>
          <p:nvPr/>
        </p:nvSpPr>
        <p:spPr>
          <a:xfrm>
            <a:off x="8641080" y="4873752"/>
            <a:ext cx="2468880"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100-120分</a:t>
            </a:r>
            <a:endParaRPr lang="en-US" sz="900" dirty="0"/>
          </a:p>
        </p:txBody>
      </p:sp>
      <p:sp>
        <p:nvSpPr>
          <p:cNvPr id="14" name="Text 12"/>
          <p:cNvSpPr txBox="1"/>
          <p:nvPr/>
        </p:nvSpPr>
        <p:spPr>
          <a:xfrm>
            <a:off x="8641080" y="5111496"/>
            <a:ext cx="2468880"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組み込み・宿題・記録</a:t>
            </a:r>
            <a:endParaRPr lang="en-US" sz="1100" dirty="0"/>
          </a:p>
        </p:txBody>
      </p:sp>
      <p:sp>
        <p:nvSpPr>
          <p:cNvPr id="15" name="Text 13"/>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6" name="Text 14"/>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ゴール</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考え方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精度は、3分類で数えます</a:t>
            </a:r>
            <a:endParaRPr lang="en-US" sz="2600" dirty="0"/>
          </a:p>
        </p:txBody>
      </p:sp>
      <p:sp>
        <p:nvSpPr>
          <p:cNvPr id="4" name="Shape 2"/>
          <p:cNvSpPr/>
          <p:nvPr/>
        </p:nvSpPr>
        <p:spPr>
          <a:xfrm>
            <a:off x="777240" y="1700784"/>
            <a:ext cx="10607040" cy="1188720"/>
          </a:xfrm>
          <a:prstGeom prst="rect">
            <a:avLst/>
          </a:prstGeom>
          <a:solidFill>
            <a:srgbClr val="FFFFFF"/>
          </a:solidFill>
          <a:ln w="12700">
            <a:solidFill>
              <a:srgbClr val="EDE7DB"/>
            </a:solidFill>
            <a:prstDash val="solid"/>
          </a:ln>
        </p:spPr>
      </p:sp>
      <p:sp>
        <p:nvSpPr>
          <p:cNvPr id="5" name="Shape 3"/>
          <p:cNvSpPr/>
          <p:nvPr/>
        </p:nvSpPr>
        <p:spPr>
          <a:xfrm>
            <a:off x="1014984" y="2112264"/>
            <a:ext cx="365760" cy="365760"/>
          </a:xfrm>
          <a:prstGeom prst="ellipse">
            <a:avLst/>
          </a:prstGeom>
          <a:solidFill>
            <a:srgbClr val="B04A2F"/>
          </a:solidFill>
          <a:ln w="12700">
            <a:solidFill>
              <a:srgbClr val="333333"/>
            </a:solidFill>
            <a:prstDash val="solid"/>
          </a:ln>
        </p:spPr>
      </p:sp>
      <p:sp>
        <p:nvSpPr>
          <p:cNvPr id="6" name="Text 4"/>
          <p:cNvSpPr txBox="1"/>
          <p:nvPr/>
        </p:nvSpPr>
        <p:spPr>
          <a:xfrm>
            <a:off x="1014984" y="21122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600200" y="1773936"/>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 正しく答えた</a:t>
            </a:r>
            <a:endParaRPr lang="en-US" sz="1450" dirty="0"/>
          </a:p>
        </p:txBody>
      </p:sp>
      <p:sp>
        <p:nvSpPr>
          <p:cNvPr id="8" name="Text 6"/>
          <p:cNvSpPr txBox="1"/>
          <p:nvPr/>
        </p:nvSpPr>
        <p:spPr>
          <a:xfrm>
            <a:off x="4888382" y="1773936"/>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資料の記載と一致している。10問中7件あれば実務に出せます</a:t>
            </a:r>
            <a:endParaRPr lang="en-US" sz="1200" dirty="0"/>
          </a:p>
        </p:txBody>
      </p:sp>
      <p:sp>
        <p:nvSpPr>
          <p:cNvPr id="9" name="Shape 7"/>
          <p:cNvSpPr/>
          <p:nvPr/>
        </p:nvSpPr>
        <p:spPr>
          <a:xfrm>
            <a:off x="777240" y="3017520"/>
            <a:ext cx="10607040" cy="1188720"/>
          </a:xfrm>
          <a:prstGeom prst="rect">
            <a:avLst/>
          </a:prstGeom>
          <a:solidFill>
            <a:srgbClr val="FFFFFF"/>
          </a:solidFill>
          <a:ln w="12700">
            <a:solidFill>
              <a:srgbClr val="EDE7DB"/>
            </a:solidFill>
            <a:prstDash val="solid"/>
          </a:ln>
        </p:spPr>
      </p:sp>
      <p:sp>
        <p:nvSpPr>
          <p:cNvPr id="10" name="Shape 8"/>
          <p:cNvSpPr/>
          <p:nvPr/>
        </p:nvSpPr>
        <p:spPr>
          <a:xfrm>
            <a:off x="1014984" y="3429000"/>
            <a:ext cx="365760" cy="365760"/>
          </a:xfrm>
          <a:prstGeom prst="ellipse">
            <a:avLst/>
          </a:prstGeom>
          <a:solidFill>
            <a:srgbClr val="B04A2F"/>
          </a:solidFill>
          <a:ln w="12700">
            <a:solidFill>
              <a:srgbClr val="333333"/>
            </a:solidFill>
            <a:prstDash val="solid"/>
          </a:ln>
        </p:spPr>
      </p:sp>
      <p:sp>
        <p:nvSpPr>
          <p:cNvPr id="11" name="Text 9"/>
          <p:cNvSpPr txBox="1"/>
          <p:nvPr/>
        </p:nvSpPr>
        <p:spPr>
          <a:xfrm>
            <a:off x="101498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600200" y="3090672"/>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△「記載がありません」と答えた</a:t>
            </a:r>
            <a:endParaRPr lang="en-US" sz="1450" dirty="0"/>
          </a:p>
        </p:txBody>
      </p:sp>
      <p:sp>
        <p:nvSpPr>
          <p:cNvPr id="13" name="Text 11"/>
          <p:cNvSpPr txBox="1"/>
          <p:nvPr/>
        </p:nvSpPr>
        <p:spPr>
          <a:xfrm>
            <a:off x="4888382" y="3090672"/>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正しい振る舞いです。×ではありません。資料不足として記録します</a:t>
            </a:r>
            <a:endParaRPr lang="en-US" sz="1200" dirty="0"/>
          </a:p>
        </p:txBody>
      </p:sp>
      <p:sp>
        <p:nvSpPr>
          <p:cNvPr id="14" name="Shape 12"/>
          <p:cNvSpPr/>
          <p:nvPr/>
        </p:nvSpPr>
        <p:spPr>
          <a:xfrm>
            <a:off x="777240" y="4334256"/>
            <a:ext cx="10607040" cy="1188720"/>
          </a:xfrm>
          <a:prstGeom prst="rect">
            <a:avLst/>
          </a:prstGeom>
          <a:solidFill>
            <a:srgbClr val="FFFFFF"/>
          </a:solidFill>
          <a:ln w="12700">
            <a:solidFill>
              <a:srgbClr val="EDE7DB"/>
            </a:solidFill>
            <a:prstDash val="solid"/>
          </a:ln>
        </p:spPr>
      </p:sp>
      <p:sp>
        <p:nvSpPr>
          <p:cNvPr id="15" name="Shape 13"/>
          <p:cNvSpPr/>
          <p:nvPr/>
        </p:nvSpPr>
        <p:spPr>
          <a:xfrm>
            <a:off x="1014984" y="4745736"/>
            <a:ext cx="365760" cy="365760"/>
          </a:xfrm>
          <a:prstGeom prst="ellipse">
            <a:avLst/>
          </a:prstGeom>
          <a:solidFill>
            <a:srgbClr val="B04A2F"/>
          </a:solidFill>
          <a:ln w="12700">
            <a:solidFill>
              <a:srgbClr val="333333"/>
            </a:solidFill>
            <a:prstDash val="solid"/>
          </a:ln>
        </p:spPr>
      </p:sp>
      <p:sp>
        <p:nvSpPr>
          <p:cNvPr id="16" name="Text 14"/>
          <p:cNvSpPr txBox="1"/>
          <p:nvPr/>
        </p:nvSpPr>
        <p:spPr>
          <a:xfrm>
            <a:off x="1014984" y="47457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7" name="Text 15"/>
          <p:cNvSpPr txBox="1"/>
          <p:nvPr/>
        </p:nvSpPr>
        <p:spPr>
          <a:xfrm>
            <a:off x="1600200" y="4407408"/>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 間違えた・それらしい嘘</a:t>
            </a:r>
            <a:endParaRPr lang="en-US" sz="1450" dirty="0"/>
          </a:p>
        </p:txBody>
      </p:sp>
      <p:sp>
        <p:nvSpPr>
          <p:cNvPr id="18" name="Text 16"/>
          <p:cNvSpPr txBox="1"/>
          <p:nvPr/>
        </p:nvSpPr>
        <p:spPr>
          <a:xfrm>
            <a:off x="4888382" y="4407408"/>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最も危険。1件でもあれば原因を潰します</a:t>
            </a:r>
            <a:endParaRPr lang="en-US" sz="1200" dirty="0"/>
          </a:p>
        </p:txBody>
      </p:sp>
      <p:sp>
        <p:nvSpPr>
          <p:cNvPr id="19" name="Text 17"/>
          <p:cNvSpPr txBox="1"/>
          <p:nvPr/>
        </p:nvSpPr>
        <p:spPr>
          <a:xfrm>
            <a:off x="777240" y="5669280"/>
            <a:ext cx="10607040" cy="411480"/>
          </a:xfrm>
          <a:prstGeom prst="rect">
            <a:avLst/>
          </a:prstGeom>
          <a:noFill/>
          <a:ln/>
        </p:spPr>
        <p:txBody>
          <a:bodyPr wrap="square" lIns="0" tIns="0" rIns="0" bIns="0" rtlCol="0" anchor="ctr"/>
          <a:lstStyle/>
          <a:p>
            <a:pPr indent="0" marL="0">
              <a:buNone/>
            </a:pPr>
            <a:r>
              <a:rPr lang="en-US" sz="1200" b="1" dirty="0">
                <a:solidFill>
                  <a:srgbClr val="B04A2F"/>
                </a:solidFill>
                <a:latin typeface="Yu Gothic" pitchFamily="34" charset="0"/>
                <a:ea typeface="Yu Gothic" pitchFamily="34" charset="-122"/>
                <a:cs typeface="Yu Gothic" pitchFamily="34" charset="-120"/>
              </a:rPr>
              <a:t>△を×と混同しないでください。「答えられない」は正常な振る舞いです。ここを誤ると、嘘をつくAIのほうが高評価になってしまいます。</a:t>
            </a:r>
            <a:endParaRPr lang="en-US" sz="120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考え方</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あてはめ</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足りない資料の一覧は、この5列で</a:t>
            </a:r>
            <a:endParaRPr lang="en-US" sz="2600" dirty="0"/>
          </a:p>
        </p:txBody>
      </p:sp>
      <p:sp>
        <p:nvSpPr>
          <p:cNvPr id="4" name="Shape 2"/>
          <p:cNvSpPr/>
          <p:nvPr/>
        </p:nvSpPr>
        <p:spPr>
          <a:xfrm>
            <a:off x="777240" y="1691640"/>
            <a:ext cx="10607040" cy="3401568"/>
          </a:xfrm>
          <a:prstGeom prst="rect">
            <a:avLst/>
          </a:prstGeom>
          <a:solidFill>
            <a:srgbClr val="FFFFFF"/>
          </a:solidFill>
          <a:ln w="15875">
            <a:solidFill>
              <a:srgbClr val="2F4F6B"/>
            </a:solidFill>
            <a:prstDash val="solid"/>
          </a:ln>
        </p:spPr>
      </p:sp>
      <p:sp>
        <p:nvSpPr>
          <p:cNvPr id="5" name="Shape 3"/>
          <p:cNvSpPr/>
          <p:nvPr/>
        </p:nvSpPr>
        <p:spPr>
          <a:xfrm>
            <a:off x="777240" y="1691640"/>
            <a:ext cx="10607040" cy="457200"/>
          </a:xfrm>
          <a:prstGeom prst="rect">
            <a:avLst/>
          </a:prstGeom>
          <a:solidFill>
            <a:srgbClr val="2F4F6B"/>
          </a:solidFill>
          <a:ln w="12700">
            <a:solidFill>
              <a:srgbClr val="333333"/>
            </a:solidFill>
            <a:prstDash val="solid"/>
          </a:ln>
        </p:spPr>
      </p:sp>
      <p:sp>
        <p:nvSpPr>
          <p:cNvPr id="6" name="Text 4"/>
          <p:cNvSpPr txBox="1"/>
          <p:nvPr/>
        </p:nvSpPr>
        <p:spPr>
          <a:xfrm>
            <a:off x="1051560" y="1709928"/>
            <a:ext cx="10058400" cy="42062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不足資料リスト（記入例）</a:t>
            </a:r>
            <a:endParaRPr lang="en-US" sz="1200" dirty="0"/>
          </a:p>
        </p:txBody>
      </p:sp>
      <p:sp>
        <p:nvSpPr>
          <p:cNvPr id="7" name="Text 5"/>
          <p:cNvSpPr txBox="1"/>
          <p:nvPr/>
        </p:nvSpPr>
        <p:spPr>
          <a:xfrm>
            <a:off x="1097280" y="233172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答えられなかった質問</a:t>
            </a:r>
            <a:endParaRPr lang="en-US" sz="1100" dirty="0"/>
          </a:p>
        </p:txBody>
      </p:sp>
      <p:sp>
        <p:nvSpPr>
          <p:cNvPr id="8" name="Text 6"/>
          <p:cNvSpPr txBox="1"/>
          <p:nvPr/>
        </p:nvSpPr>
        <p:spPr>
          <a:xfrm>
            <a:off x="3291840" y="233172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外注先に出せる加工の範囲は？</a:t>
            </a:r>
            <a:endParaRPr lang="en-US" sz="1150" dirty="0"/>
          </a:p>
        </p:txBody>
      </p:sp>
      <p:sp>
        <p:nvSpPr>
          <p:cNvPr id="9" name="Text 7"/>
          <p:cNvSpPr txBox="1"/>
          <p:nvPr/>
        </p:nvSpPr>
        <p:spPr>
          <a:xfrm>
            <a:off x="1097280" y="2862072"/>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必要な資料</a:t>
            </a:r>
            <a:endParaRPr lang="en-US" sz="1100" dirty="0"/>
          </a:p>
        </p:txBody>
      </p:sp>
      <p:sp>
        <p:nvSpPr>
          <p:cNvPr id="10" name="Text 8"/>
          <p:cNvSpPr txBox="1"/>
          <p:nvPr/>
        </p:nvSpPr>
        <p:spPr>
          <a:xfrm>
            <a:off x="3291840" y="2862072"/>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外注可否の判断基準</a:t>
            </a:r>
            <a:endParaRPr lang="en-US" sz="1150" dirty="0"/>
          </a:p>
        </p:txBody>
      </p:sp>
      <p:sp>
        <p:nvSpPr>
          <p:cNvPr id="11" name="Text 9"/>
          <p:cNvSpPr txBox="1"/>
          <p:nvPr/>
        </p:nvSpPr>
        <p:spPr>
          <a:xfrm>
            <a:off x="1097280" y="3392424"/>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いまどこにあるか</a:t>
            </a:r>
            <a:endParaRPr lang="en-US" sz="1100" dirty="0"/>
          </a:p>
        </p:txBody>
      </p:sp>
      <p:sp>
        <p:nvSpPr>
          <p:cNvPr id="12" name="Text 10"/>
          <p:cNvSpPr txBox="1"/>
          <p:nvPr/>
        </p:nvSpPr>
        <p:spPr>
          <a:xfrm>
            <a:off x="3291840" y="3392424"/>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社長の頭の中のみ</a:t>
            </a:r>
            <a:endParaRPr lang="en-US" sz="1150" dirty="0"/>
          </a:p>
        </p:txBody>
      </p:sp>
      <p:sp>
        <p:nvSpPr>
          <p:cNvPr id="13" name="Text 11"/>
          <p:cNvSpPr txBox="1"/>
          <p:nvPr/>
        </p:nvSpPr>
        <p:spPr>
          <a:xfrm>
            <a:off x="1097280" y="3922776"/>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誰が作るか</a:t>
            </a:r>
            <a:endParaRPr lang="en-US" sz="1100" dirty="0"/>
          </a:p>
        </p:txBody>
      </p:sp>
      <p:sp>
        <p:nvSpPr>
          <p:cNvPr id="14" name="Text 12"/>
          <p:cNvSpPr txBox="1"/>
          <p:nvPr/>
        </p:nvSpPr>
        <p:spPr>
          <a:xfrm>
            <a:off x="3291840" y="3922776"/>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工場長（社長の口述を書き起こす）</a:t>
            </a:r>
            <a:endParaRPr lang="en-US" sz="1150" dirty="0"/>
          </a:p>
        </p:txBody>
      </p:sp>
      <p:sp>
        <p:nvSpPr>
          <p:cNvPr id="15" name="Text 13"/>
          <p:cNvSpPr txBox="1"/>
          <p:nvPr/>
        </p:nvSpPr>
        <p:spPr>
          <a:xfrm>
            <a:off x="1097280" y="4453128"/>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いつまでに</a:t>
            </a:r>
            <a:endParaRPr lang="en-US" sz="1100" dirty="0"/>
          </a:p>
        </p:txBody>
      </p:sp>
      <p:sp>
        <p:nvSpPr>
          <p:cNvPr id="16" name="Text 14"/>
          <p:cNvSpPr txBox="1"/>
          <p:nvPr/>
        </p:nvSpPr>
        <p:spPr>
          <a:xfrm>
            <a:off x="3291840" y="4453128"/>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来月末</a:t>
            </a:r>
            <a:endParaRPr lang="en-US" sz="1150" dirty="0"/>
          </a:p>
        </p:txBody>
      </p:sp>
      <p:sp>
        <p:nvSpPr>
          <p:cNvPr id="17" name="Text 15"/>
          <p:cNvSpPr txBox="1"/>
          <p:nvPr/>
        </p:nvSpPr>
        <p:spPr>
          <a:xfrm>
            <a:off x="777240" y="5239512"/>
            <a:ext cx="10607040" cy="548640"/>
          </a:xfrm>
          <a:prstGeom prst="rect">
            <a:avLst/>
          </a:prstGeom>
          <a:noFill/>
          <a:ln/>
        </p:spPr>
        <p:txBody>
          <a:bodyPr wrap="square" lIns="0" tIns="0" rIns="0" bIns="0" rtlCol="0" anchor="ctr"/>
          <a:lstStyle/>
          <a:p>
            <a:pPr indent="0" marL="0">
              <a:lnSpc>
                <a:spcPct val="135000"/>
              </a:lnSpc>
              <a:buNone/>
            </a:pPr>
            <a:r>
              <a:rPr lang="en-US" sz="1250" dirty="0">
                <a:solidFill>
                  <a:srgbClr val="5A534A"/>
                </a:solidFill>
                <a:latin typeface="Yu Gothic" pitchFamily="34" charset="0"/>
                <a:ea typeface="Yu Gothic" pitchFamily="34" charset="-122"/>
                <a:cs typeface="Yu Gothic" pitchFamily="34" charset="-120"/>
              </a:rPr>
              <a:t>この表が、そのまま事業承継の課題リストになります。AIを入れたら、自社に何が無いかが分かった——これが本講座で最も価値のある副産物です。</a:t>
            </a:r>
            <a:endParaRPr lang="en-US" sz="1250" dirty="0"/>
          </a:p>
        </p:txBody>
      </p:sp>
      <p:sp>
        <p:nvSpPr>
          <p:cNvPr id="18" name="Text 16"/>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9" name="Text 17"/>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あてはめ</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実演 ①</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範囲を広げすぎた場合</a:t>
            </a:r>
            <a:endParaRPr lang="en-US" sz="2600" dirty="0"/>
          </a:p>
        </p:txBody>
      </p:sp>
      <p:sp>
        <p:nvSpPr>
          <p:cNvPr id="4" name="Shape 2"/>
          <p:cNvSpPr/>
          <p:nvPr/>
        </p:nvSpPr>
        <p:spPr>
          <a:xfrm>
            <a:off x="777240" y="1691640"/>
            <a:ext cx="4879238" cy="1371600"/>
          </a:xfrm>
          <a:prstGeom prst="rect">
            <a:avLst/>
          </a:prstGeom>
          <a:solidFill>
            <a:srgbClr val="EDE7DB"/>
          </a:solidFill>
          <a:ln w="15875">
            <a:solidFill>
              <a:srgbClr val="8A8177"/>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全社の資料を、古い版も下書きも含めて全部載せる</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・どれが最新か分からず、古い情報で答える</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・下書きの数字を、確定値のように答える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・10問中○が3件まで落ちる</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・「使えない」という評価が社内に広がる</a:t>
            </a:r>
            <a:endParaRPr lang="en-US" sz="1250" dirty="0"/>
          </a:p>
        </p:txBody>
      </p:sp>
      <p:sp>
        <p:nvSpPr>
          <p:cNvPr id="13" name="Shape 11"/>
          <p:cNvSpPr/>
          <p:nvPr/>
        </p:nvSpPr>
        <p:spPr>
          <a:xfrm>
            <a:off x="777240" y="3291840"/>
            <a:ext cx="4879238" cy="1417320"/>
          </a:xfrm>
          <a:prstGeom prst="rect">
            <a:avLst/>
          </a:prstGeom>
          <a:solidFill>
            <a:srgbClr val="E4DFD5"/>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載せる量と精度は比例しません。入れない判断のほうが、品質を決めています。</a:t>
            </a:r>
            <a:endParaRPr lang="en-US" sz="1250" dirty="0"/>
          </a:p>
        </p:txBody>
      </p:sp>
      <p:sp>
        <p:nvSpPr>
          <p:cNvPr id="15" name="Shape 13"/>
          <p:cNvSpPr/>
          <p:nvPr/>
        </p:nvSpPr>
        <p:spPr>
          <a:xfrm>
            <a:off x="777240" y="4983480"/>
            <a:ext cx="10607040" cy="685800"/>
          </a:xfrm>
          <a:prstGeom prst="rect">
            <a:avLst/>
          </a:prstGeom>
          <a:solidFill>
            <a:srgbClr val="8A8177"/>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範囲を広げるほど、精度は落ちます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①</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実演 ②</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1領域に絞った場合</a:t>
            </a:r>
            <a:endParaRPr lang="en-US" sz="2600" dirty="0"/>
          </a:p>
        </p:txBody>
      </p:sp>
      <p:sp>
        <p:nvSpPr>
          <p:cNvPr id="4" name="Shape 2"/>
          <p:cNvSpPr/>
          <p:nvPr/>
        </p:nvSpPr>
        <p:spPr>
          <a:xfrm>
            <a:off x="777240" y="1691640"/>
            <a:ext cx="4879238" cy="1371600"/>
          </a:xfrm>
          <a:prstGeom prst="rect">
            <a:avLst/>
          </a:prstGeom>
          <a:solidFill>
            <a:srgbClr val="FFFFFF"/>
          </a:solidFill>
          <a:ln w="15875">
            <a:solidFill>
              <a:srgbClr val="3B6B4A"/>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3B6B4A"/>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就業規則と社内手続きだけを、最新版に限って載せる</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・○が8件。実務に出せる水準</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・△が2件。足りない資料として記録できる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・総務への質問が目に見えて減る</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・次の領域に広げる判断ができる</a:t>
            </a:r>
            <a:endParaRPr lang="en-US" sz="1250" dirty="0"/>
          </a:p>
        </p:txBody>
      </p:sp>
      <p:sp>
        <p:nvSpPr>
          <p:cNvPr id="13" name="Shape 11"/>
          <p:cNvSpPr/>
          <p:nvPr/>
        </p:nvSpPr>
        <p:spPr>
          <a:xfrm>
            <a:off x="777240" y="3291840"/>
            <a:ext cx="4879238" cy="1417320"/>
          </a:xfrm>
          <a:prstGeom prst="rect">
            <a:avLst/>
          </a:prstGeom>
          <a:solidFill>
            <a:srgbClr val="E7F0E9"/>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まず1領域。広げるのは、10問テストで精度を確認してからです。</a:t>
            </a:r>
            <a:endParaRPr lang="en-US" sz="1250" dirty="0"/>
          </a:p>
        </p:txBody>
      </p:sp>
      <p:sp>
        <p:nvSpPr>
          <p:cNvPr id="15" name="Shape 13"/>
          <p:cNvSpPr/>
          <p:nvPr/>
        </p:nvSpPr>
        <p:spPr>
          <a:xfrm>
            <a:off x="777240" y="4983480"/>
            <a:ext cx="10607040" cy="685800"/>
          </a:xfrm>
          <a:prstGeom prst="rect">
            <a:avLst/>
          </a:prstGeom>
          <a:solidFill>
            <a:srgbClr val="3B6B4A"/>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絞って成功させてから、広げます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②</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つまずきやすいところ</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この回で、よく起きること</a:t>
            </a:r>
            <a:endParaRPr lang="en-US" sz="2600" dirty="0"/>
          </a:p>
        </p:txBody>
      </p:sp>
      <p:sp>
        <p:nvSpPr>
          <p:cNvPr id="4" name="Shape 2"/>
          <p:cNvSpPr/>
          <p:nvPr/>
        </p:nvSpPr>
        <p:spPr>
          <a:xfrm>
            <a:off x="777240" y="173736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51560" y="1856232"/>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6" name="Text 4"/>
          <p:cNvSpPr txBox="1"/>
          <p:nvPr/>
        </p:nvSpPr>
        <p:spPr>
          <a:xfrm>
            <a:off x="1051560" y="2121408"/>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資料がスキャン画像で読めない</a:t>
            </a:r>
            <a:endParaRPr lang="en-US" sz="1350" dirty="0"/>
          </a:p>
        </p:txBody>
      </p:sp>
      <p:sp>
        <p:nvSpPr>
          <p:cNvPr id="7" name="Shape 5"/>
          <p:cNvSpPr/>
          <p:nvPr/>
        </p:nvSpPr>
        <p:spPr>
          <a:xfrm>
            <a:off x="5762549" y="1847088"/>
            <a:ext cx="18288" cy="859536"/>
          </a:xfrm>
          <a:prstGeom prst="rect">
            <a:avLst/>
          </a:prstGeom>
          <a:solidFill>
            <a:srgbClr val="EDE7DB"/>
          </a:solidFill>
          <a:ln w="12700">
            <a:solidFill>
              <a:srgbClr val="333333"/>
            </a:solidFill>
            <a:prstDash val="solid"/>
          </a:ln>
        </p:spPr>
      </p:sp>
      <p:sp>
        <p:nvSpPr>
          <p:cNvPr id="8" name="Text 6"/>
          <p:cNvSpPr txBox="1"/>
          <p:nvPr/>
        </p:nvSpPr>
        <p:spPr>
          <a:xfrm>
            <a:off x="6080760" y="1856232"/>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9" name="Text 7"/>
          <p:cNvSpPr txBox="1"/>
          <p:nvPr/>
        </p:nvSpPr>
        <p:spPr>
          <a:xfrm>
            <a:off x="6080760" y="2121408"/>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1〜2本ならその場でテキスト化します。多ければ不足資料リストに「デジタル化」として載せ、この回で全部やろうとしません</a:t>
            </a:r>
            <a:endParaRPr lang="en-US" sz="1250" dirty="0"/>
          </a:p>
        </p:txBody>
      </p:sp>
      <p:sp>
        <p:nvSpPr>
          <p:cNvPr id="10" name="Shape 8"/>
          <p:cNvSpPr/>
          <p:nvPr/>
        </p:nvSpPr>
        <p:spPr>
          <a:xfrm>
            <a:off x="777240" y="2944368"/>
            <a:ext cx="10607040" cy="1078992"/>
          </a:xfrm>
          <a:prstGeom prst="rect">
            <a:avLst/>
          </a:prstGeom>
          <a:solidFill>
            <a:srgbClr val="FFFFFF"/>
          </a:solidFill>
          <a:ln w="12700">
            <a:solidFill>
              <a:srgbClr val="EDE7DB"/>
            </a:solidFill>
            <a:prstDash val="solid"/>
          </a:ln>
        </p:spPr>
      </p:sp>
      <p:sp>
        <p:nvSpPr>
          <p:cNvPr id="11" name="Text 9"/>
          <p:cNvSpPr txBox="1"/>
          <p:nvPr/>
        </p:nvSpPr>
        <p:spPr>
          <a:xfrm>
            <a:off x="1051560" y="3063240"/>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2" name="Text 10"/>
          <p:cNvSpPr txBox="1"/>
          <p:nvPr/>
        </p:nvSpPr>
        <p:spPr>
          <a:xfrm>
            <a:off x="1051560" y="3328416"/>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精度が5割程度で止まる</a:t>
            </a:r>
            <a:endParaRPr lang="en-US" sz="1350" dirty="0"/>
          </a:p>
        </p:txBody>
      </p:sp>
      <p:sp>
        <p:nvSpPr>
          <p:cNvPr id="13" name="Shape 11"/>
          <p:cNvSpPr/>
          <p:nvPr/>
        </p:nvSpPr>
        <p:spPr>
          <a:xfrm>
            <a:off x="5762549" y="3054096"/>
            <a:ext cx="18288" cy="859536"/>
          </a:xfrm>
          <a:prstGeom prst="rect">
            <a:avLst/>
          </a:prstGeom>
          <a:solidFill>
            <a:srgbClr val="EDE7DB"/>
          </a:solidFill>
          <a:ln w="12700">
            <a:solidFill>
              <a:srgbClr val="333333"/>
            </a:solidFill>
            <a:prstDash val="solid"/>
          </a:ln>
        </p:spPr>
      </p:sp>
      <p:sp>
        <p:nvSpPr>
          <p:cNvPr id="14" name="Text 12"/>
          <p:cNvSpPr txBox="1"/>
          <p:nvPr/>
        </p:nvSpPr>
        <p:spPr>
          <a:xfrm>
            <a:off x="6080760" y="306324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15" name="Text 13"/>
          <p:cNvSpPr txBox="1"/>
          <p:nvPr/>
        </p:nvSpPr>
        <p:spPr>
          <a:xfrm>
            <a:off x="6080760" y="3328416"/>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資料を減らす／1領域に絞り直す／質問の粒度を揃える。この順で試します</a:t>
            </a:r>
            <a:endParaRPr lang="en-US" sz="1250" dirty="0"/>
          </a:p>
        </p:txBody>
      </p:sp>
      <p:sp>
        <p:nvSpPr>
          <p:cNvPr id="16" name="Shape 14"/>
          <p:cNvSpPr/>
          <p:nvPr/>
        </p:nvSpPr>
        <p:spPr>
          <a:xfrm>
            <a:off x="777240" y="4151376"/>
            <a:ext cx="10607040" cy="1078992"/>
          </a:xfrm>
          <a:prstGeom prst="rect">
            <a:avLst/>
          </a:prstGeom>
          <a:solidFill>
            <a:srgbClr val="FFFFFF"/>
          </a:solidFill>
          <a:ln w="12700">
            <a:solidFill>
              <a:srgbClr val="EDE7DB"/>
            </a:solidFill>
            <a:prstDash val="solid"/>
          </a:ln>
        </p:spPr>
      </p:sp>
      <p:sp>
        <p:nvSpPr>
          <p:cNvPr id="17" name="Text 15"/>
          <p:cNvSpPr txBox="1"/>
          <p:nvPr/>
        </p:nvSpPr>
        <p:spPr>
          <a:xfrm>
            <a:off x="1051560" y="4270248"/>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8" name="Text 16"/>
          <p:cNvSpPr txBox="1"/>
          <p:nvPr/>
        </p:nvSpPr>
        <p:spPr>
          <a:xfrm>
            <a:off x="1051560" y="4535424"/>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「全社の資料を全部入れたい」と言われる</a:t>
            </a:r>
            <a:endParaRPr lang="en-US" sz="1350" dirty="0"/>
          </a:p>
        </p:txBody>
      </p:sp>
      <p:sp>
        <p:nvSpPr>
          <p:cNvPr id="19" name="Shape 17"/>
          <p:cNvSpPr/>
          <p:nvPr/>
        </p:nvSpPr>
        <p:spPr>
          <a:xfrm>
            <a:off x="5762549" y="4261104"/>
            <a:ext cx="18288" cy="859536"/>
          </a:xfrm>
          <a:prstGeom prst="rect">
            <a:avLst/>
          </a:prstGeom>
          <a:solidFill>
            <a:srgbClr val="EDE7DB"/>
          </a:solidFill>
          <a:ln w="12700">
            <a:solidFill>
              <a:srgbClr val="333333"/>
            </a:solidFill>
            <a:prstDash val="solid"/>
          </a:ln>
        </p:spPr>
      </p:sp>
      <p:sp>
        <p:nvSpPr>
          <p:cNvPr id="20" name="Text 18"/>
          <p:cNvSpPr txBox="1"/>
          <p:nvPr/>
        </p:nvSpPr>
        <p:spPr>
          <a:xfrm>
            <a:off x="6080760" y="4270248"/>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21" name="Text 19"/>
          <p:cNvSpPr txBox="1"/>
          <p:nvPr/>
        </p:nvSpPr>
        <p:spPr>
          <a:xfrm>
            <a:off x="6080760" y="4535424"/>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止めます。10問テストで精度が落ちることを実証して見せるのが最も早い説得です</a:t>
            </a:r>
            <a:endParaRPr lang="en-US" sz="1250" dirty="0"/>
          </a:p>
        </p:txBody>
      </p:sp>
      <p:sp>
        <p:nvSpPr>
          <p:cNvPr id="22" name="Text 20"/>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23" name="Text 21"/>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つまずき</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想定問答</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この回で、よく聞かれること</a:t>
            </a:r>
            <a:endParaRPr lang="en-US" sz="2600" dirty="0"/>
          </a:p>
        </p:txBody>
      </p:sp>
      <p:sp>
        <p:nvSpPr>
          <p:cNvPr id="4" name="Shape 2"/>
          <p:cNvSpPr/>
          <p:nvPr/>
        </p:nvSpPr>
        <p:spPr>
          <a:xfrm>
            <a:off x="777240" y="1737360"/>
            <a:ext cx="10607040" cy="1170432"/>
          </a:xfrm>
          <a:prstGeom prst="rect">
            <a:avLst/>
          </a:prstGeom>
          <a:solidFill>
            <a:srgbClr val="FFFFFF"/>
          </a:solidFill>
          <a:ln w="12700">
            <a:solidFill>
              <a:srgbClr val="EDE7DB"/>
            </a:solidFill>
            <a:prstDash val="solid"/>
          </a:ln>
        </p:spPr>
      </p:sp>
      <p:sp>
        <p:nvSpPr>
          <p:cNvPr id="5" name="Shape 3"/>
          <p:cNvSpPr/>
          <p:nvPr/>
        </p:nvSpPr>
        <p:spPr>
          <a:xfrm>
            <a:off x="777240" y="1737360"/>
            <a:ext cx="54864" cy="1170432"/>
          </a:xfrm>
          <a:prstGeom prst="rect">
            <a:avLst/>
          </a:prstGeom>
          <a:solidFill>
            <a:srgbClr val="2F4F6B"/>
          </a:solidFill>
          <a:ln w="12700">
            <a:solidFill>
              <a:srgbClr val="333333"/>
            </a:solidFill>
            <a:prstDash val="solid"/>
          </a:ln>
        </p:spPr>
      </p:sp>
      <p:sp>
        <p:nvSpPr>
          <p:cNvPr id="6" name="Text 4"/>
          <p:cNvSpPr txBox="1"/>
          <p:nvPr/>
        </p:nvSpPr>
        <p:spPr>
          <a:xfrm>
            <a:off x="1097280" y="1828800"/>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「全社の資料を入れたらもっと賢くなりますか」</a:t>
            </a:r>
            <a:endParaRPr lang="en-US" sz="1400" dirty="0"/>
          </a:p>
        </p:txBody>
      </p:sp>
      <p:sp>
        <p:nvSpPr>
          <p:cNvPr id="7" name="Text 5"/>
          <p:cNvSpPr txBox="1"/>
          <p:nvPr/>
        </p:nvSpPr>
        <p:spPr>
          <a:xfrm>
            <a:off x="1097280" y="2231136"/>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逆です。範囲を広げるほど精度は落ちます。今日、実際に入れて落ちるところをお見せします。</a:t>
            </a:r>
            <a:endParaRPr lang="en-US" sz="1250" dirty="0"/>
          </a:p>
        </p:txBody>
      </p:sp>
      <p:sp>
        <p:nvSpPr>
          <p:cNvPr id="8" name="Shape 6"/>
          <p:cNvSpPr/>
          <p:nvPr/>
        </p:nvSpPr>
        <p:spPr>
          <a:xfrm>
            <a:off x="777240" y="3035808"/>
            <a:ext cx="10607040" cy="1170432"/>
          </a:xfrm>
          <a:prstGeom prst="rect">
            <a:avLst/>
          </a:prstGeom>
          <a:solidFill>
            <a:srgbClr val="FFFFFF"/>
          </a:solidFill>
          <a:ln w="12700">
            <a:solidFill>
              <a:srgbClr val="EDE7DB"/>
            </a:solidFill>
            <a:prstDash val="solid"/>
          </a:ln>
        </p:spPr>
      </p:sp>
      <p:sp>
        <p:nvSpPr>
          <p:cNvPr id="9" name="Shape 7"/>
          <p:cNvSpPr/>
          <p:nvPr/>
        </p:nvSpPr>
        <p:spPr>
          <a:xfrm>
            <a:off x="777240" y="3035808"/>
            <a:ext cx="54864" cy="1170432"/>
          </a:xfrm>
          <a:prstGeom prst="rect">
            <a:avLst/>
          </a:prstGeom>
          <a:solidFill>
            <a:srgbClr val="2F4F6B"/>
          </a:solidFill>
          <a:ln w="12700">
            <a:solidFill>
              <a:srgbClr val="333333"/>
            </a:solidFill>
            <a:prstDash val="solid"/>
          </a:ln>
        </p:spPr>
      </p:sp>
      <p:sp>
        <p:nvSpPr>
          <p:cNvPr id="10" name="Text 8"/>
          <p:cNvSpPr txBox="1"/>
          <p:nvPr/>
        </p:nvSpPr>
        <p:spPr>
          <a:xfrm>
            <a:off x="1097280" y="3127248"/>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「人事情報や個人情報も入れていいですか」</a:t>
            </a:r>
            <a:endParaRPr lang="en-US" sz="1400" dirty="0"/>
          </a:p>
        </p:txBody>
      </p:sp>
      <p:sp>
        <p:nvSpPr>
          <p:cNvPr id="11" name="Text 9"/>
          <p:cNvSpPr txBox="1"/>
          <p:nvPr/>
        </p:nvSpPr>
        <p:spPr>
          <a:xfrm>
            <a:off x="1097280" y="3529584"/>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入れません。誰が見られるかの管理が難しくなり、事故の元になります。領域を分けて運用します。</a:t>
            </a:r>
            <a:endParaRPr lang="en-US" sz="1250" dirty="0"/>
          </a:p>
        </p:txBody>
      </p:sp>
      <p:sp>
        <p:nvSpPr>
          <p:cNvPr id="12" name="Shape 10"/>
          <p:cNvSpPr/>
          <p:nvPr/>
        </p:nvSpPr>
        <p:spPr>
          <a:xfrm>
            <a:off x="777240" y="4334256"/>
            <a:ext cx="10607040" cy="1170432"/>
          </a:xfrm>
          <a:prstGeom prst="rect">
            <a:avLst/>
          </a:prstGeom>
          <a:solidFill>
            <a:srgbClr val="FFFFFF"/>
          </a:solidFill>
          <a:ln w="12700">
            <a:solidFill>
              <a:srgbClr val="EDE7DB"/>
            </a:solidFill>
            <a:prstDash val="solid"/>
          </a:ln>
        </p:spPr>
      </p:sp>
      <p:sp>
        <p:nvSpPr>
          <p:cNvPr id="13" name="Shape 11"/>
          <p:cNvSpPr/>
          <p:nvPr/>
        </p:nvSpPr>
        <p:spPr>
          <a:xfrm>
            <a:off x="777240" y="4334256"/>
            <a:ext cx="54864" cy="1170432"/>
          </a:xfrm>
          <a:prstGeom prst="rect">
            <a:avLst/>
          </a:prstGeom>
          <a:solidFill>
            <a:srgbClr val="2F4F6B"/>
          </a:solidFill>
          <a:ln w="12700">
            <a:solidFill>
              <a:srgbClr val="333333"/>
            </a:solidFill>
            <a:prstDash val="solid"/>
          </a:ln>
        </p:spPr>
      </p:sp>
      <p:sp>
        <p:nvSpPr>
          <p:cNvPr id="14" name="Text 12"/>
          <p:cNvSpPr txBox="1"/>
          <p:nvPr/>
        </p:nvSpPr>
        <p:spPr>
          <a:xfrm>
            <a:off x="1097280" y="4425696"/>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「答えられない質問が多いと、失敗ですか」</a:t>
            </a:r>
            <a:endParaRPr lang="en-US" sz="1400" dirty="0"/>
          </a:p>
        </p:txBody>
      </p:sp>
      <p:sp>
        <p:nvSpPr>
          <p:cNvPr id="15" name="Text 13"/>
          <p:cNvSpPr txBox="1"/>
          <p:nvPr/>
        </p:nvSpPr>
        <p:spPr>
          <a:xfrm>
            <a:off x="1097280" y="4828032"/>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失敗ではありません。それが、社内に資料が無いことの証明です。今日いちばんの成果物になります。</a:t>
            </a:r>
            <a:endParaRPr lang="en-US" sz="1250" dirty="0"/>
          </a:p>
        </p:txBody>
      </p:sp>
      <p:sp>
        <p:nvSpPr>
          <p:cNvPr id="16" name="Text 14"/>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7" name="Text 15"/>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想定問答</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用語</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今日出てきた言葉</a:t>
            </a:r>
            <a:endParaRPr lang="en-US" sz="2600" dirty="0"/>
          </a:p>
        </p:txBody>
      </p:sp>
      <p:sp>
        <p:nvSpPr>
          <p:cNvPr id="4" name="Shape 2"/>
          <p:cNvSpPr/>
          <p:nvPr/>
        </p:nvSpPr>
        <p:spPr>
          <a:xfrm>
            <a:off x="777240" y="182880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97280" y="192024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ナレッジ検索</a:t>
            </a:r>
            <a:endParaRPr lang="en-US" sz="1500" dirty="0"/>
          </a:p>
        </p:txBody>
      </p:sp>
      <p:sp>
        <p:nvSpPr>
          <p:cNvPr id="6" name="Shape 4"/>
          <p:cNvSpPr/>
          <p:nvPr/>
        </p:nvSpPr>
        <p:spPr>
          <a:xfrm>
            <a:off x="4065422" y="1956816"/>
            <a:ext cx="18288" cy="822960"/>
          </a:xfrm>
          <a:prstGeom prst="rect">
            <a:avLst/>
          </a:prstGeom>
          <a:solidFill>
            <a:srgbClr val="EDE7DB"/>
          </a:solidFill>
          <a:ln w="12700">
            <a:solidFill>
              <a:srgbClr val="333333"/>
            </a:solidFill>
            <a:prstDash val="solid"/>
          </a:ln>
        </p:spPr>
      </p:sp>
      <p:sp>
        <p:nvSpPr>
          <p:cNvPr id="7" name="Text 5"/>
          <p:cNvSpPr txBox="1"/>
          <p:nvPr/>
        </p:nvSpPr>
        <p:spPr>
          <a:xfrm>
            <a:off x="4383634" y="192024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自社資料を検索させてから答えさせるやり方。出典を示させるのが要点です</a:t>
            </a:r>
            <a:endParaRPr lang="en-US" sz="1250" dirty="0"/>
          </a:p>
        </p:txBody>
      </p:sp>
      <p:sp>
        <p:nvSpPr>
          <p:cNvPr id="8" name="Shape 6"/>
          <p:cNvSpPr/>
          <p:nvPr/>
        </p:nvSpPr>
        <p:spPr>
          <a:xfrm>
            <a:off x="777240" y="3063240"/>
            <a:ext cx="10607040" cy="1078992"/>
          </a:xfrm>
          <a:prstGeom prst="rect">
            <a:avLst/>
          </a:prstGeom>
          <a:solidFill>
            <a:srgbClr val="FFFFFF"/>
          </a:solidFill>
          <a:ln w="12700">
            <a:solidFill>
              <a:srgbClr val="EDE7DB"/>
            </a:solidFill>
            <a:prstDash val="solid"/>
          </a:ln>
        </p:spPr>
      </p:sp>
      <p:sp>
        <p:nvSpPr>
          <p:cNvPr id="9" name="Text 7"/>
          <p:cNvSpPr txBox="1"/>
          <p:nvPr/>
        </p:nvSpPr>
        <p:spPr>
          <a:xfrm>
            <a:off x="1097280" y="315468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10問テスト</a:t>
            </a:r>
            <a:endParaRPr lang="en-US" sz="1500" dirty="0"/>
          </a:p>
        </p:txBody>
      </p:sp>
      <p:sp>
        <p:nvSpPr>
          <p:cNvPr id="10" name="Shape 8"/>
          <p:cNvSpPr/>
          <p:nvPr/>
        </p:nvSpPr>
        <p:spPr>
          <a:xfrm>
            <a:off x="4065422" y="3191256"/>
            <a:ext cx="18288" cy="822960"/>
          </a:xfrm>
          <a:prstGeom prst="rect">
            <a:avLst/>
          </a:prstGeom>
          <a:solidFill>
            <a:srgbClr val="EDE7DB"/>
          </a:solidFill>
          <a:ln w="12700">
            <a:solidFill>
              <a:srgbClr val="333333"/>
            </a:solidFill>
            <a:prstDash val="solid"/>
          </a:ln>
        </p:spPr>
      </p:sp>
      <p:sp>
        <p:nvSpPr>
          <p:cNvPr id="11" name="Text 9"/>
          <p:cNvSpPr txBox="1"/>
          <p:nvPr/>
        </p:nvSpPr>
        <p:spPr>
          <a:xfrm>
            <a:off x="4383634" y="315468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○△×で数える精度の測り方。○が7件以上で実務に出せます</a:t>
            </a:r>
            <a:endParaRPr lang="en-US" sz="1250" dirty="0"/>
          </a:p>
        </p:txBody>
      </p:sp>
      <p:sp>
        <p:nvSpPr>
          <p:cNvPr id="12" name="Shape 10"/>
          <p:cNvSpPr/>
          <p:nvPr/>
        </p:nvSpPr>
        <p:spPr>
          <a:xfrm>
            <a:off x="777240" y="4297680"/>
            <a:ext cx="10607040" cy="1078992"/>
          </a:xfrm>
          <a:prstGeom prst="rect">
            <a:avLst/>
          </a:prstGeom>
          <a:solidFill>
            <a:srgbClr val="FFFFFF"/>
          </a:solidFill>
          <a:ln w="12700">
            <a:solidFill>
              <a:srgbClr val="EDE7DB"/>
            </a:solidFill>
            <a:prstDash val="solid"/>
          </a:ln>
        </p:spPr>
      </p:sp>
      <p:sp>
        <p:nvSpPr>
          <p:cNvPr id="13" name="Text 11"/>
          <p:cNvSpPr txBox="1"/>
          <p:nvPr/>
        </p:nvSpPr>
        <p:spPr>
          <a:xfrm>
            <a:off x="1097280" y="438912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不足資料リスト</a:t>
            </a:r>
            <a:endParaRPr lang="en-US" sz="1500" dirty="0"/>
          </a:p>
        </p:txBody>
      </p:sp>
      <p:sp>
        <p:nvSpPr>
          <p:cNvPr id="14" name="Shape 12"/>
          <p:cNvSpPr/>
          <p:nvPr/>
        </p:nvSpPr>
        <p:spPr>
          <a:xfrm>
            <a:off x="4065422" y="4425696"/>
            <a:ext cx="18288" cy="822960"/>
          </a:xfrm>
          <a:prstGeom prst="rect">
            <a:avLst/>
          </a:prstGeom>
          <a:solidFill>
            <a:srgbClr val="EDE7DB"/>
          </a:solidFill>
          <a:ln w="12700">
            <a:solidFill>
              <a:srgbClr val="333333"/>
            </a:solidFill>
            <a:prstDash val="solid"/>
          </a:ln>
        </p:spPr>
      </p:sp>
      <p:sp>
        <p:nvSpPr>
          <p:cNvPr id="15" name="Text 13"/>
          <p:cNvSpPr txBox="1"/>
          <p:nvPr/>
        </p:nvSpPr>
        <p:spPr>
          <a:xfrm>
            <a:off x="4383634" y="438912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答えられなかった質問から作る一覧。事業承継の課題リストになります</a:t>
            </a:r>
            <a:endParaRPr lang="en-US" sz="1250" dirty="0"/>
          </a:p>
        </p:txBody>
      </p:sp>
      <p:sp>
        <p:nvSpPr>
          <p:cNvPr id="16" name="Text 14"/>
          <p:cNvSpPr txBox="1"/>
          <p:nvPr/>
        </p:nvSpPr>
        <p:spPr>
          <a:xfrm>
            <a:off x="777240" y="5623560"/>
            <a:ext cx="10607040" cy="411480"/>
          </a:xfrm>
          <a:prstGeom prst="rect">
            <a:avLst/>
          </a:prstGeom>
          <a:noFill/>
          <a:ln/>
        </p:spPr>
        <p:txBody>
          <a:bodyPr wrap="square" lIns="0" tIns="0" rIns="0" bIns="0" rtlCol="0" anchor="ctr"/>
          <a:lstStyle/>
          <a:p>
            <a:pPr indent="0" marL="0">
              <a:buNone/>
            </a:pPr>
            <a:r>
              <a:rPr lang="en-US" sz="1150" dirty="0">
                <a:solidFill>
                  <a:srgbClr val="8A8177"/>
                </a:solidFill>
                <a:latin typeface="Yu Gothic" pitchFamily="34" charset="0"/>
                <a:ea typeface="Yu Gothic" pitchFamily="34" charset="-122"/>
                <a:cs typeface="Yu Gothic" pitchFamily="34" charset="-120"/>
              </a:rPr>
              <a:t>配布した用語辞典にも同じものが載っています。覚える必要はありません。</a:t>
            </a:r>
            <a:endParaRPr lang="en-US" sz="11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用語</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演習</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今日、一緒にやること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2F4F6B"/>
                </a:solidFill>
                <a:latin typeface="Yu Gothic" pitchFamily="34" charset="0"/>
                <a:ea typeface="Yu Gothic" pitchFamily="34" charset="-122"/>
                <a:cs typeface="Yu Gothic" pitchFamily="34" charset="-120"/>
              </a:rPr>
              <a:t>65分。操作するのはご自身です。</a:t>
            </a:r>
            <a:endParaRPr lang="en-US" sz="1250" dirty="0"/>
          </a:p>
        </p:txBody>
      </p:sp>
      <p:sp>
        <p:nvSpPr>
          <p:cNvPr id="5" name="Shape 3"/>
          <p:cNvSpPr/>
          <p:nvPr/>
        </p:nvSpPr>
        <p:spPr>
          <a:xfrm>
            <a:off x="777240" y="2148840"/>
            <a:ext cx="3383280" cy="2880360"/>
          </a:xfrm>
          <a:prstGeom prst="rect">
            <a:avLst/>
          </a:prstGeom>
          <a:solidFill>
            <a:srgbClr val="FFFFFF"/>
          </a:solidFill>
          <a:ln w="12700">
            <a:solidFill>
              <a:srgbClr val="EDE7DB"/>
            </a:solidFill>
            <a:prstDash val="solid"/>
          </a:ln>
        </p:spPr>
      </p:sp>
      <p:sp>
        <p:nvSpPr>
          <p:cNvPr id="6" name="Shape 4"/>
          <p:cNvSpPr/>
          <p:nvPr/>
        </p:nvSpPr>
        <p:spPr>
          <a:xfrm>
            <a:off x="1051560" y="2395728"/>
            <a:ext cx="438912" cy="438912"/>
          </a:xfrm>
          <a:prstGeom prst="ellipse">
            <a:avLst/>
          </a:prstGeom>
          <a:solidFill>
            <a:srgbClr val="2F4F6B"/>
          </a:solidFill>
          <a:ln w="12700">
            <a:solidFill>
              <a:srgbClr val="333333"/>
            </a:solidFill>
            <a:prstDash val="solid"/>
          </a:ln>
        </p:spPr>
      </p:sp>
      <p:sp>
        <p:nvSpPr>
          <p:cNvPr id="7" name="Text 5"/>
          <p:cNvSpPr txBox="1"/>
          <p:nvPr/>
        </p:nvSpPr>
        <p:spPr>
          <a:xfrm>
            <a:off x="105156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8" name="Text 6"/>
          <p:cNvSpPr txBox="1"/>
          <p:nvPr/>
        </p:nvSpPr>
        <p:spPr>
          <a:xfrm>
            <a:off x="105156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1領域を決めて、資料を載せる</a:t>
            </a:r>
            <a:endParaRPr lang="en-US" sz="1450" dirty="0"/>
          </a:p>
        </p:txBody>
      </p:sp>
      <p:sp>
        <p:nvSpPr>
          <p:cNvPr id="9" name="Text 7"/>
          <p:cNvSpPr txBox="1"/>
          <p:nvPr/>
        </p:nvSpPr>
        <p:spPr>
          <a:xfrm>
            <a:off x="105156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入れない判断が品質を決めます。最新版だけに絞ります</a:t>
            </a:r>
            <a:endParaRPr lang="en-US" sz="1150" dirty="0"/>
          </a:p>
        </p:txBody>
      </p:sp>
      <p:sp>
        <p:nvSpPr>
          <p:cNvPr id="10" name="Shape 8"/>
          <p:cNvSpPr/>
          <p:nvPr/>
        </p:nvSpPr>
        <p:spPr>
          <a:xfrm>
            <a:off x="4389120" y="2148840"/>
            <a:ext cx="3383280" cy="2880360"/>
          </a:xfrm>
          <a:prstGeom prst="rect">
            <a:avLst/>
          </a:prstGeom>
          <a:solidFill>
            <a:srgbClr val="FFFFFF"/>
          </a:solidFill>
          <a:ln w="12700">
            <a:solidFill>
              <a:srgbClr val="EDE7DB"/>
            </a:solidFill>
            <a:prstDash val="solid"/>
          </a:ln>
        </p:spPr>
      </p:sp>
      <p:sp>
        <p:nvSpPr>
          <p:cNvPr id="11" name="Shape 9"/>
          <p:cNvSpPr/>
          <p:nvPr/>
        </p:nvSpPr>
        <p:spPr>
          <a:xfrm>
            <a:off x="4663440" y="2395728"/>
            <a:ext cx="438912" cy="438912"/>
          </a:xfrm>
          <a:prstGeom prst="ellipse">
            <a:avLst/>
          </a:prstGeom>
          <a:solidFill>
            <a:srgbClr val="2F4F6B"/>
          </a:solidFill>
          <a:ln w="12700">
            <a:solidFill>
              <a:srgbClr val="333333"/>
            </a:solidFill>
            <a:prstDash val="solid"/>
          </a:ln>
        </p:spPr>
      </p:sp>
      <p:sp>
        <p:nvSpPr>
          <p:cNvPr id="12" name="Text 10"/>
          <p:cNvSpPr txBox="1"/>
          <p:nvPr/>
        </p:nvSpPr>
        <p:spPr>
          <a:xfrm>
            <a:off x="466344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3" name="Text 11"/>
          <p:cNvSpPr txBox="1"/>
          <p:nvPr/>
        </p:nvSpPr>
        <p:spPr>
          <a:xfrm>
            <a:off x="466344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10問投げて、精度を測る</a:t>
            </a:r>
            <a:endParaRPr lang="en-US" sz="1450" dirty="0"/>
          </a:p>
        </p:txBody>
      </p:sp>
      <p:sp>
        <p:nvSpPr>
          <p:cNvPr id="14" name="Text 12"/>
          <p:cNvSpPr txBox="1"/>
          <p:nvPr/>
        </p:nvSpPr>
        <p:spPr>
          <a:xfrm>
            <a:off x="466344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社員の方が実際にしそうな質問で試します。○△×を数えます</a:t>
            </a:r>
            <a:endParaRPr lang="en-US" sz="1150" dirty="0"/>
          </a:p>
        </p:txBody>
      </p:sp>
      <p:sp>
        <p:nvSpPr>
          <p:cNvPr id="15" name="Shape 13"/>
          <p:cNvSpPr/>
          <p:nvPr/>
        </p:nvSpPr>
        <p:spPr>
          <a:xfrm>
            <a:off x="8001000" y="2148840"/>
            <a:ext cx="3383280" cy="2880360"/>
          </a:xfrm>
          <a:prstGeom prst="rect">
            <a:avLst/>
          </a:prstGeom>
          <a:solidFill>
            <a:srgbClr val="FFFFFF"/>
          </a:solidFill>
          <a:ln w="12700">
            <a:solidFill>
              <a:srgbClr val="EDE7DB"/>
            </a:solidFill>
            <a:prstDash val="solid"/>
          </a:ln>
        </p:spPr>
      </p:sp>
      <p:sp>
        <p:nvSpPr>
          <p:cNvPr id="16" name="Shape 14"/>
          <p:cNvSpPr/>
          <p:nvPr/>
        </p:nvSpPr>
        <p:spPr>
          <a:xfrm>
            <a:off x="8275320" y="2395728"/>
            <a:ext cx="438912" cy="438912"/>
          </a:xfrm>
          <a:prstGeom prst="ellipse">
            <a:avLst/>
          </a:prstGeom>
          <a:solidFill>
            <a:srgbClr val="2F4F6B"/>
          </a:solidFill>
          <a:ln w="12700">
            <a:solidFill>
              <a:srgbClr val="333333"/>
            </a:solidFill>
            <a:prstDash val="solid"/>
          </a:ln>
        </p:spPr>
      </p:sp>
      <p:sp>
        <p:nvSpPr>
          <p:cNvPr id="17" name="Text 15"/>
          <p:cNvSpPr txBox="1"/>
          <p:nvPr/>
        </p:nvSpPr>
        <p:spPr>
          <a:xfrm>
            <a:off x="827532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txBox="1"/>
          <p:nvPr/>
        </p:nvSpPr>
        <p:spPr>
          <a:xfrm>
            <a:off x="827532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答えられなかった質問を書き出す</a:t>
            </a:r>
            <a:endParaRPr lang="en-US" sz="1450" dirty="0"/>
          </a:p>
        </p:txBody>
      </p:sp>
      <p:sp>
        <p:nvSpPr>
          <p:cNvPr id="19" name="Text 17"/>
          <p:cNvSpPr txBox="1"/>
          <p:nvPr/>
        </p:nvSpPr>
        <p:spPr>
          <a:xfrm>
            <a:off x="827532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今日いちばんの成果物です。5列の表に落とします</a:t>
            </a:r>
            <a:endParaRPr lang="en-US" sz="11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演習</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業務への組み込み</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帰る前に決めること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3B6B4A"/>
                </a:solidFill>
                <a:latin typeface="Yu Gothic" pitchFamily="34" charset="0"/>
                <a:ea typeface="Yu Gothic" pitchFamily="34" charset="-122"/>
                <a:cs typeface="Yu Gothic" pitchFamily="34" charset="-120"/>
              </a:rPr>
              <a:t>ここを決めないと、持ち帰っても使われません。紙に書きます。</a:t>
            </a:r>
            <a:endParaRPr lang="en-US" sz="1250" dirty="0"/>
          </a:p>
        </p:txBody>
      </p:sp>
      <p:sp>
        <p:nvSpPr>
          <p:cNvPr id="5" name="Shape 3"/>
          <p:cNvSpPr/>
          <p:nvPr/>
        </p:nvSpPr>
        <p:spPr>
          <a:xfrm>
            <a:off x="777240" y="2103120"/>
            <a:ext cx="10607040" cy="914400"/>
          </a:xfrm>
          <a:prstGeom prst="rect">
            <a:avLst/>
          </a:prstGeom>
          <a:solidFill>
            <a:srgbClr val="FFFFFF"/>
          </a:solidFill>
          <a:ln w="12700">
            <a:solidFill>
              <a:srgbClr val="EDE7DB"/>
            </a:solidFill>
            <a:prstDash val="solid"/>
          </a:ln>
        </p:spPr>
      </p:sp>
      <p:sp>
        <p:nvSpPr>
          <p:cNvPr id="6" name="Shape 4"/>
          <p:cNvSpPr/>
          <p:nvPr/>
        </p:nvSpPr>
        <p:spPr>
          <a:xfrm>
            <a:off x="777240" y="2103120"/>
            <a:ext cx="54864" cy="914400"/>
          </a:xfrm>
          <a:prstGeom prst="rect">
            <a:avLst/>
          </a:prstGeom>
          <a:solidFill>
            <a:srgbClr val="3B6B4A"/>
          </a:solidFill>
          <a:ln w="12700">
            <a:solidFill>
              <a:srgbClr val="333333"/>
            </a:solidFill>
            <a:prstDash val="solid"/>
          </a:ln>
        </p:spPr>
      </p:sp>
      <p:sp>
        <p:nvSpPr>
          <p:cNvPr id="7" name="Text 5"/>
          <p:cNvSpPr txBox="1"/>
          <p:nvPr/>
        </p:nvSpPr>
        <p:spPr>
          <a:xfrm>
            <a:off x="1143000" y="217627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誰に使わせるか</a:t>
            </a:r>
            <a:endParaRPr lang="en-US" sz="1400" dirty="0"/>
          </a:p>
        </p:txBody>
      </p:sp>
      <p:sp>
        <p:nvSpPr>
          <p:cNvPr id="8" name="Text 6"/>
          <p:cNvSpPr txBox="1"/>
          <p:nvPr/>
        </p:nvSpPr>
        <p:spPr>
          <a:xfrm>
            <a:off x="4006901" y="217627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総務や事務など、質問を受ける側の方から始めます</a:t>
            </a:r>
            <a:endParaRPr lang="en-US" sz="1250" dirty="0"/>
          </a:p>
        </p:txBody>
      </p:sp>
      <p:sp>
        <p:nvSpPr>
          <p:cNvPr id="9" name="Shape 7"/>
          <p:cNvSpPr/>
          <p:nvPr/>
        </p:nvSpPr>
        <p:spPr>
          <a:xfrm>
            <a:off x="777240" y="3154680"/>
            <a:ext cx="10607040" cy="914400"/>
          </a:xfrm>
          <a:prstGeom prst="rect">
            <a:avLst/>
          </a:prstGeom>
          <a:solidFill>
            <a:srgbClr val="FFFFFF"/>
          </a:solidFill>
          <a:ln w="12700">
            <a:solidFill>
              <a:srgbClr val="EDE7DB"/>
            </a:solidFill>
            <a:prstDash val="solid"/>
          </a:ln>
        </p:spPr>
      </p:sp>
      <p:sp>
        <p:nvSpPr>
          <p:cNvPr id="10" name="Shape 8"/>
          <p:cNvSpPr/>
          <p:nvPr/>
        </p:nvSpPr>
        <p:spPr>
          <a:xfrm>
            <a:off x="777240" y="3154680"/>
            <a:ext cx="54864" cy="914400"/>
          </a:xfrm>
          <a:prstGeom prst="rect">
            <a:avLst/>
          </a:prstGeom>
          <a:solidFill>
            <a:srgbClr val="3B6B4A"/>
          </a:solidFill>
          <a:ln w="12700">
            <a:solidFill>
              <a:srgbClr val="333333"/>
            </a:solidFill>
            <a:prstDash val="solid"/>
          </a:ln>
        </p:spPr>
      </p:sp>
      <p:sp>
        <p:nvSpPr>
          <p:cNvPr id="11" name="Text 9"/>
          <p:cNvSpPr txBox="1"/>
          <p:nvPr/>
        </p:nvSpPr>
        <p:spPr>
          <a:xfrm>
            <a:off x="1143000" y="322783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資料を更新するのは誰か</a:t>
            </a:r>
            <a:endParaRPr lang="en-US" sz="1400" dirty="0"/>
          </a:p>
        </p:txBody>
      </p:sp>
      <p:sp>
        <p:nvSpPr>
          <p:cNvPr id="12" name="Text 10"/>
          <p:cNvSpPr txBox="1"/>
          <p:nvPr/>
        </p:nvSpPr>
        <p:spPr>
          <a:xfrm>
            <a:off x="4006901" y="322783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更新の担当が決まっていないナレッジは、半年で腐ります</a:t>
            </a:r>
            <a:endParaRPr lang="en-US" sz="1250" dirty="0"/>
          </a:p>
        </p:txBody>
      </p:sp>
      <p:sp>
        <p:nvSpPr>
          <p:cNvPr id="13" name="Shape 11"/>
          <p:cNvSpPr/>
          <p:nvPr/>
        </p:nvSpPr>
        <p:spPr>
          <a:xfrm>
            <a:off x="777240" y="4206240"/>
            <a:ext cx="10607040" cy="914400"/>
          </a:xfrm>
          <a:prstGeom prst="rect">
            <a:avLst/>
          </a:prstGeom>
          <a:solidFill>
            <a:srgbClr val="FFFFFF"/>
          </a:solidFill>
          <a:ln w="12700">
            <a:solidFill>
              <a:srgbClr val="EDE7DB"/>
            </a:solidFill>
            <a:prstDash val="solid"/>
          </a:ln>
        </p:spPr>
      </p:sp>
      <p:sp>
        <p:nvSpPr>
          <p:cNvPr id="14" name="Shape 12"/>
          <p:cNvSpPr/>
          <p:nvPr/>
        </p:nvSpPr>
        <p:spPr>
          <a:xfrm>
            <a:off x="777240" y="4206240"/>
            <a:ext cx="54864" cy="914400"/>
          </a:xfrm>
          <a:prstGeom prst="rect">
            <a:avLst/>
          </a:prstGeom>
          <a:solidFill>
            <a:srgbClr val="3B6B4A"/>
          </a:solidFill>
          <a:ln w="12700">
            <a:solidFill>
              <a:srgbClr val="333333"/>
            </a:solidFill>
            <a:prstDash val="solid"/>
          </a:ln>
        </p:spPr>
      </p:sp>
      <p:sp>
        <p:nvSpPr>
          <p:cNvPr id="15" name="Text 13"/>
          <p:cNvSpPr txBox="1"/>
          <p:nvPr/>
        </p:nvSpPr>
        <p:spPr>
          <a:xfrm>
            <a:off x="1143000" y="427939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不足資料は誰がいつ作るか</a:t>
            </a:r>
            <a:endParaRPr lang="en-US" sz="1400" dirty="0"/>
          </a:p>
        </p:txBody>
      </p:sp>
      <p:sp>
        <p:nvSpPr>
          <p:cNvPr id="16" name="Text 14"/>
          <p:cNvSpPr txBox="1"/>
          <p:nvPr/>
        </p:nvSpPr>
        <p:spPr>
          <a:xfrm>
            <a:off x="4006901" y="427939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5列の表の右2列を、実名と期日で埋めます</a:t>
            </a:r>
            <a:endParaRPr lang="en-US" sz="12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組み込み</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ここだけは</a:t>
            </a:r>
            <a:endParaRPr lang="en-US" sz="1100" dirty="0"/>
          </a:p>
        </p:txBody>
      </p:sp>
      <p:sp>
        <p:nvSpPr>
          <p:cNvPr id="3" name="Text 1"/>
          <p:cNvSpPr txBox="1"/>
          <p:nvPr/>
        </p:nvSpPr>
        <p:spPr>
          <a:xfrm>
            <a:off x="777240" y="1097280"/>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答えられなかった質問こそ、成果です</a:t>
            </a:r>
            <a:endParaRPr lang="en-US" sz="2600" dirty="0"/>
          </a:p>
        </p:txBody>
      </p:sp>
      <p:sp>
        <p:nvSpPr>
          <p:cNvPr id="4" name="Shape 2"/>
          <p:cNvSpPr/>
          <p:nvPr/>
        </p:nvSpPr>
        <p:spPr>
          <a:xfrm>
            <a:off x="777240" y="2148840"/>
            <a:ext cx="64008" cy="2194560"/>
          </a:xfrm>
          <a:prstGeom prst="rect">
            <a:avLst/>
          </a:prstGeom>
          <a:solidFill>
            <a:srgbClr val="B04A2F"/>
          </a:solidFill>
          <a:ln w="12700">
            <a:solidFill>
              <a:srgbClr val="333333"/>
            </a:solidFill>
            <a:prstDash val="solid"/>
          </a:ln>
        </p:spPr>
      </p:sp>
      <p:sp>
        <p:nvSpPr>
          <p:cNvPr id="5" name="Text 3"/>
          <p:cNvSpPr txBox="1"/>
          <p:nvPr/>
        </p:nvSpPr>
        <p:spPr>
          <a:xfrm>
            <a:off x="1188720" y="2148840"/>
            <a:ext cx="9966960" cy="2194560"/>
          </a:xfrm>
          <a:prstGeom prst="rect">
            <a:avLst/>
          </a:prstGeom>
          <a:noFill/>
          <a:ln/>
        </p:spPr>
        <p:txBody>
          <a:bodyPr wrap="square" lIns="0" tIns="0" rIns="0" bIns="0" rtlCol="0" anchor="ctr"/>
          <a:lstStyle/>
          <a:p>
            <a:pPr indent="0" marL="0">
              <a:lnSpc>
                <a:spcPct val="160000"/>
              </a:lnSpc>
              <a:buNone/>
            </a:pPr>
            <a:r>
              <a:rPr lang="en-US" sz="1650" dirty="0">
                <a:solidFill>
                  <a:srgbClr val="3F3933"/>
                </a:solidFill>
                <a:latin typeface="Yu Gothic" pitchFamily="34" charset="0"/>
                <a:ea typeface="Yu Gothic" pitchFamily="34" charset="-122"/>
                <a:cs typeface="Yu Gothic" pitchFamily="34" charset="-120"/>
              </a:rPr>
              <a:t>それは、資料が存在しないか、社長の頭の中にしかない知識です。AIが答えられなかったということは、新しく入った社員も答えられないということです。ここは経営者の関心が最も高まる場面なので、丁寧に扱ってください。</a:t>
            </a:r>
            <a:endParaRPr lang="en-US" sz="1650" dirty="0"/>
          </a:p>
        </p:txBody>
      </p:sp>
      <p:sp>
        <p:nvSpPr>
          <p:cNvPr id="6" name="Shape 4"/>
          <p:cNvSpPr/>
          <p:nvPr/>
        </p:nvSpPr>
        <p:spPr>
          <a:xfrm>
            <a:off x="777240" y="4709160"/>
            <a:ext cx="10607040" cy="960120"/>
          </a:xfrm>
          <a:prstGeom prst="rect">
            <a:avLst/>
          </a:prstGeom>
          <a:solidFill>
            <a:srgbClr val="EDE7DB"/>
          </a:solidFill>
          <a:ln w="12700">
            <a:solidFill>
              <a:srgbClr val="333333"/>
            </a:solidFill>
            <a:prstDash val="solid"/>
          </a:ln>
        </p:spPr>
      </p:sp>
      <p:sp>
        <p:nvSpPr>
          <p:cNvPr id="7" name="Text 5"/>
          <p:cNvSpPr txBox="1"/>
          <p:nvPr/>
        </p:nvSpPr>
        <p:spPr>
          <a:xfrm>
            <a:off x="1051560" y="480060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よくある型</a:t>
            </a:r>
            <a:endParaRPr lang="en-US" sz="900" dirty="0"/>
          </a:p>
        </p:txBody>
      </p:sp>
      <p:sp>
        <p:nvSpPr>
          <p:cNvPr id="8" name="Text 6"/>
          <p:cNvSpPr txBox="1"/>
          <p:nvPr/>
        </p:nvSpPr>
        <p:spPr>
          <a:xfrm>
            <a:off x="1051560" y="5029200"/>
            <a:ext cx="10058400" cy="566928"/>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ナレッジ検索がいちばん役立つのは、実は新人教育。ベテランに聞きにくい質問をAIに聞けるようになると、質問の総量が増える。</a:t>
            </a:r>
            <a:endParaRPr lang="en-US" sz="1250" dirty="0"/>
          </a:p>
        </p:txBody>
      </p:sp>
      <p:sp>
        <p:nvSpPr>
          <p:cNvPr id="9" name="Text 7"/>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0" name="Text 8"/>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ここだけは</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次回まで</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次回は「複数の工程をまとめて任せる」</a:t>
            </a:r>
            <a:endParaRPr lang="en-US" sz="2600" dirty="0"/>
          </a:p>
        </p:txBody>
      </p:sp>
      <p:sp>
        <p:nvSpPr>
          <p:cNvPr id="4" name="Text 2"/>
          <p:cNvSpPr txBox="1"/>
          <p:nvPr/>
        </p:nvSpPr>
        <p:spPr>
          <a:xfrm>
            <a:off x="777240" y="1572768"/>
            <a:ext cx="9546336" cy="457200"/>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次回は、手順のある仕事をまとめて渡す設計をします。人に仕事を任せるのと同じ話です。</a:t>
            </a:r>
            <a:endParaRPr lang="en-US" sz="1400" dirty="0"/>
          </a:p>
        </p:txBody>
      </p:sp>
      <p:sp>
        <p:nvSpPr>
          <p:cNvPr id="5" name="Shape 3"/>
          <p:cNvSpPr/>
          <p:nvPr/>
        </p:nvSpPr>
        <p:spPr>
          <a:xfrm>
            <a:off x="777240" y="2240280"/>
            <a:ext cx="4985309" cy="2286000"/>
          </a:xfrm>
          <a:prstGeom prst="rect">
            <a:avLst/>
          </a:prstGeom>
          <a:solidFill>
            <a:srgbClr val="FFFFFF"/>
          </a:solidFill>
          <a:ln w="12700">
            <a:solidFill>
              <a:srgbClr val="EDE7DB"/>
            </a:solidFill>
            <a:prstDash val="solid"/>
          </a:ln>
        </p:spPr>
      </p:sp>
      <p:sp>
        <p:nvSpPr>
          <p:cNvPr id="6" name="Text 4"/>
          <p:cNvSpPr txBox="1"/>
          <p:nvPr/>
        </p:nvSpPr>
        <p:spPr>
          <a:xfrm>
            <a:off x="1051560" y="2377440"/>
            <a:ext cx="4242816" cy="274320"/>
          </a:xfrm>
          <a:prstGeom prst="rect">
            <a:avLst/>
          </a:prstGeom>
          <a:noFill/>
          <a:ln/>
        </p:spPr>
        <p:txBody>
          <a:bodyPr wrap="square" lIns="0" tIns="0" rIns="0" bIns="0" rtlCol="0" anchor="ctr"/>
          <a:lstStyle/>
          <a:p>
            <a:pPr indent="0" marL="0">
              <a:buNone/>
            </a:pPr>
            <a:r>
              <a:rPr lang="en-US" sz="1000" b="1" spc="150" kern="0" dirty="0">
                <a:solidFill>
                  <a:srgbClr val="B04A2F"/>
                </a:solidFill>
                <a:latin typeface="Yu Gothic" pitchFamily="34" charset="0"/>
                <a:ea typeface="Yu Gothic" pitchFamily="34" charset="-122"/>
                <a:cs typeface="Yu Gothic" pitchFamily="34" charset="-120"/>
              </a:rPr>
              <a:t>次回までにやること</a:t>
            </a:r>
            <a:endParaRPr lang="en-US" sz="1000" dirty="0"/>
          </a:p>
        </p:txBody>
      </p:sp>
      <p:sp>
        <p:nvSpPr>
          <p:cNvPr id="7" name="Text 5"/>
          <p:cNvSpPr txBox="1"/>
          <p:nvPr/>
        </p:nvSpPr>
        <p:spPr>
          <a:xfrm>
            <a:off x="1051560" y="2743200"/>
            <a:ext cx="4436669" cy="1554480"/>
          </a:xfrm>
          <a:prstGeom prst="rect">
            <a:avLst/>
          </a:prstGeom>
          <a:noFill/>
          <a:ln/>
        </p:spPr>
        <p:txBody>
          <a:bodyPr wrap="square" lIns="0" tIns="0" rIns="0" bIns="0" rtlCol="0" anchor="ctr"/>
          <a:lstStyle/>
          <a:p>
            <a:pPr indent="0" marL="0">
              <a:lnSpc>
                <a:spcPct val="140000"/>
              </a:lnSpc>
              <a:buNone/>
            </a:pPr>
            <a:r>
              <a:rPr lang="en-US" sz="1400" dirty="0">
                <a:solidFill>
                  <a:srgbClr val="23201D"/>
                </a:solidFill>
                <a:latin typeface="Yu Gothic" pitchFamily="34" charset="0"/>
                <a:ea typeface="Yu Gothic" pitchFamily="34" charset="-122"/>
                <a:cs typeface="Yu Gothic" pitchFamily="34" charset="-120"/>
              </a:rPr>
              <a:t>足りない資料のうち、最も簡単な1件を埋める</a:t>
            </a:r>
            <a:endParaRPr lang="en-US" sz="1400" dirty="0"/>
          </a:p>
        </p:txBody>
      </p:sp>
      <p:sp>
        <p:nvSpPr>
          <p:cNvPr id="8" name="Shape 6"/>
          <p:cNvSpPr/>
          <p:nvPr/>
        </p:nvSpPr>
        <p:spPr>
          <a:xfrm>
            <a:off x="6398971" y="2240280"/>
            <a:ext cx="4985309" cy="2286000"/>
          </a:xfrm>
          <a:prstGeom prst="rect">
            <a:avLst/>
          </a:prstGeom>
          <a:solidFill>
            <a:srgbClr val="FFFFFF"/>
          </a:solidFill>
          <a:ln w="12700">
            <a:solidFill>
              <a:srgbClr val="EDE7DB"/>
            </a:solidFill>
            <a:prstDash val="solid"/>
          </a:ln>
        </p:spPr>
      </p:sp>
      <p:sp>
        <p:nvSpPr>
          <p:cNvPr id="9" name="Text 7"/>
          <p:cNvSpPr txBox="1"/>
          <p:nvPr/>
        </p:nvSpPr>
        <p:spPr>
          <a:xfrm>
            <a:off x="6673291" y="2377440"/>
            <a:ext cx="4242816" cy="274320"/>
          </a:xfrm>
          <a:prstGeom prst="rect">
            <a:avLst/>
          </a:prstGeom>
          <a:noFill/>
          <a:ln/>
        </p:spPr>
        <p:txBody>
          <a:bodyPr wrap="square" lIns="0" tIns="0" rIns="0" bIns="0" rtlCol="0" anchor="ctr"/>
          <a:lstStyle/>
          <a:p>
            <a:pPr indent="0" marL="0">
              <a:buNone/>
            </a:pPr>
            <a:r>
              <a:rPr lang="en-US" sz="1000" b="1" spc="150" kern="0" dirty="0">
                <a:solidFill>
                  <a:srgbClr val="3B6B4A"/>
                </a:solidFill>
                <a:latin typeface="Yu Gothic" pitchFamily="34" charset="0"/>
                <a:ea typeface="Yu Gothic" pitchFamily="34" charset="-122"/>
                <a:cs typeface="Yu Gothic" pitchFamily="34" charset="-120"/>
              </a:rPr>
              <a:t>次回の持ち物</a:t>
            </a:r>
            <a:endParaRPr lang="en-US" sz="1000" dirty="0"/>
          </a:p>
        </p:txBody>
      </p:sp>
      <p:sp>
        <p:nvSpPr>
          <p:cNvPr id="10" name="Text 8"/>
          <p:cNvSpPr txBox="1"/>
          <p:nvPr/>
        </p:nvSpPr>
        <p:spPr>
          <a:xfrm>
            <a:off x="6673291" y="274320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・3工程以上ある業務を1つ選んでくる（見積・採用・月次処理など）</a:t>
            </a:r>
            <a:endParaRPr lang="en-US" sz="1250" dirty="0"/>
          </a:p>
        </p:txBody>
      </p:sp>
      <p:sp>
        <p:nvSpPr>
          <p:cNvPr id="11" name="Shape 9"/>
          <p:cNvSpPr/>
          <p:nvPr/>
        </p:nvSpPr>
        <p:spPr>
          <a:xfrm>
            <a:off x="777240" y="4800600"/>
            <a:ext cx="10607040" cy="777240"/>
          </a:xfrm>
          <a:prstGeom prst="rect">
            <a:avLst/>
          </a:prstGeom>
          <a:solidFill>
            <a:srgbClr val="EDE7DB"/>
          </a:solidFill>
          <a:ln w="12700">
            <a:solidFill>
              <a:srgbClr val="333333"/>
            </a:solidFill>
            <a:prstDash val="solid"/>
          </a:ln>
        </p:spPr>
      </p:sp>
      <p:sp>
        <p:nvSpPr>
          <p:cNvPr id="12" name="Text 10"/>
          <p:cNvSpPr txBox="1"/>
          <p:nvPr/>
        </p:nvSpPr>
        <p:spPr>
          <a:xfrm>
            <a:off x="1097280" y="4800600"/>
            <a:ext cx="9966960" cy="777240"/>
          </a:xfrm>
          <a:prstGeom prst="rect">
            <a:avLst/>
          </a:prstGeom>
          <a:noFill/>
          <a:ln/>
        </p:spPr>
        <p:txBody>
          <a:bodyPr wrap="square" lIns="0" tIns="0" rIns="0" bIns="0" rtlCol="0" anchor="ctr"/>
          <a:lstStyle/>
          <a:p>
            <a:pPr indent="0" marL="0">
              <a:buNone/>
            </a:pPr>
            <a:r>
              <a:rPr lang="en-US" sz="1250" dirty="0">
                <a:solidFill>
                  <a:srgbClr val="5A534A"/>
                </a:solidFill>
                <a:latin typeface="Yu Gothic" pitchFamily="34" charset="0"/>
                <a:ea typeface="Yu Gothic" pitchFamily="34" charset="-122"/>
                <a:cs typeface="Yu Gothic" pitchFamily="34" charset="-120"/>
              </a:rPr>
              <a:t>この内容は、次回の3日前にあらためてお送りします。</a:t>
            </a:r>
            <a:endParaRPr lang="en-US" sz="1250" dirty="0"/>
          </a:p>
        </p:txBody>
      </p:sp>
      <p:sp>
        <p:nvSpPr>
          <p:cNvPr id="13" name="Text 11"/>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4" name="Text 12"/>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次回まで</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1280160"/>
            <a:ext cx="10607040" cy="365760"/>
          </a:xfrm>
          <a:prstGeom prst="rect">
            <a:avLst/>
          </a:prstGeom>
          <a:noFill/>
          <a:ln/>
        </p:spPr>
        <p:txBody>
          <a:bodyPr wrap="square" lIns="0" tIns="0" rIns="0" bIns="0" rtlCol="0" anchor="ctr"/>
          <a:lstStyle/>
          <a:p>
            <a:pPr indent="0" marL="0">
              <a:buNone/>
            </a:pPr>
            <a:r>
              <a:rPr lang="en-US" sz="1200" b="1" spc="300" kern="0" dirty="0">
                <a:solidFill>
                  <a:srgbClr val="B04A2F"/>
                </a:solidFill>
                <a:latin typeface="Yu Gothic" pitchFamily="34" charset="0"/>
                <a:ea typeface="Yu Gothic" pitchFamily="34" charset="-122"/>
                <a:cs typeface="Yu Gothic" pitchFamily="34" charset="-120"/>
              </a:rPr>
              <a:t>今日の宿題</a:t>
            </a:r>
            <a:endParaRPr lang="en-US" sz="1200" dirty="0"/>
          </a:p>
        </p:txBody>
      </p:sp>
      <p:sp>
        <p:nvSpPr>
          <p:cNvPr id="3" name="Text 1"/>
          <p:cNvSpPr txBox="1"/>
          <p:nvPr/>
        </p:nvSpPr>
        <p:spPr>
          <a:xfrm>
            <a:off x="777240" y="169164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ひとつだけ</a:t>
            </a:r>
            <a:endParaRPr lang="en-US" sz="3200" dirty="0"/>
          </a:p>
        </p:txBody>
      </p:sp>
      <p:sp>
        <p:nvSpPr>
          <p:cNvPr id="4" name="Shape 2"/>
          <p:cNvSpPr/>
          <p:nvPr/>
        </p:nvSpPr>
        <p:spPr>
          <a:xfrm>
            <a:off x="777240" y="2651760"/>
            <a:ext cx="10607040" cy="1371600"/>
          </a:xfrm>
          <a:prstGeom prst="rect">
            <a:avLst/>
          </a:prstGeom>
          <a:solidFill>
            <a:srgbClr val="2E2A26"/>
          </a:solidFill>
          <a:ln w="12700">
            <a:solidFill>
              <a:srgbClr val="B04A2F"/>
            </a:solidFill>
            <a:prstDash val="solid"/>
          </a:ln>
        </p:spPr>
      </p:sp>
      <p:sp>
        <p:nvSpPr>
          <p:cNvPr id="5" name="Text 3"/>
          <p:cNvSpPr txBox="1"/>
          <p:nvPr/>
        </p:nvSpPr>
        <p:spPr>
          <a:xfrm>
            <a:off x="1234440" y="2743200"/>
            <a:ext cx="9692640" cy="1188720"/>
          </a:xfrm>
          <a:prstGeom prst="rect">
            <a:avLst/>
          </a:prstGeom>
          <a:noFill/>
          <a:ln/>
        </p:spPr>
        <p:txBody>
          <a:bodyPr wrap="square" lIns="0" tIns="0" rIns="0" bIns="0" rtlCol="0" anchor="ctr"/>
          <a:lstStyle/>
          <a:p>
            <a:pPr indent="0" marL="0">
              <a:lnSpc>
                <a:spcPct val="140000"/>
              </a:lnSpc>
              <a:buNone/>
            </a:pPr>
            <a:r>
              <a:rPr lang="en-US" sz="1900" b="1" dirty="0">
                <a:solidFill>
                  <a:srgbClr val="FFFFFF"/>
                </a:solidFill>
                <a:latin typeface="Yu Gothic" pitchFamily="34" charset="0"/>
                <a:ea typeface="Yu Gothic" pitchFamily="34" charset="-122"/>
                <a:cs typeface="Yu Gothic" pitchFamily="34" charset="-120"/>
              </a:rPr>
              <a:t>足りない資料のうち、最も簡単な1件を埋める（作る・探す・聞き出す のいずれか）。</a:t>
            </a:r>
            <a:endParaRPr lang="en-US" sz="1900" dirty="0"/>
          </a:p>
        </p:txBody>
      </p:sp>
      <p:sp>
        <p:nvSpPr>
          <p:cNvPr id="6" name="Text 4"/>
          <p:cNvSpPr txBox="1"/>
          <p:nvPr/>
        </p:nvSpPr>
        <p:spPr>
          <a:xfrm>
            <a:off x="777240" y="4297680"/>
            <a:ext cx="1060704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なぜこの宿題か</a:t>
            </a:r>
            <a:endParaRPr lang="en-US" sz="1000" dirty="0"/>
          </a:p>
        </p:txBody>
      </p:sp>
      <p:sp>
        <p:nvSpPr>
          <p:cNvPr id="7" name="Text 5"/>
          <p:cNvSpPr txBox="1"/>
          <p:nvPr/>
        </p:nvSpPr>
        <p:spPr>
          <a:xfrm>
            <a:off x="777240" y="4572000"/>
            <a:ext cx="9546336" cy="914400"/>
          </a:xfrm>
          <a:prstGeom prst="rect">
            <a:avLst/>
          </a:prstGeom>
          <a:noFill/>
          <a:ln/>
        </p:spPr>
        <p:txBody>
          <a:bodyPr wrap="square" lIns="0" tIns="0" rIns="0" bIns="0" rtlCol="0" anchor="ctr"/>
          <a:lstStyle/>
          <a:p>
            <a:pPr indent="0" marL="0">
              <a:lnSpc>
                <a:spcPct val="145000"/>
              </a:lnSpc>
              <a:buNone/>
            </a:pPr>
            <a:r>
              <a:rPr lang="en-US" sz="1350" dirty="0">
                <a:solidFill>
                  <a:srgbClr val="CFC6B8"/>
                </a:solidFill>
                <a:latin typeface="Yu Gothic" pitchFamily="34" charset="0"/>
                <a:ea typeface="Yu Gothic" pitchFamily="34" charset="-122"/>
                <a:cs typeface="Yu Gothic" pitchFamily="34" charset="-120"/>
              </a:rPr>
              <a:t>リストは作った時点では紙です。1件でも埋めると、埋められるものだと分かります。いちばん簡単なものを選んでください。難しいものから始めると、止まります。</a:t>
            </a:r>
            <a:endParaRPr lang="en-US" sz="1350" dirty="0"/>
          </a:p>
        </p:txBody>
      </p:sp>
      <p:sp>
        <p:nvSpPr>
          <p:cNvPr id="8" name="Text 6"/>
          <p:cNvSpPr txBox="1"/>
          <p:nvPr/>
        </p:nvSpPr>
        <p:spPr>
          <a:xfrm>
            <a:off x="777240" y="6382512"/>
            <a:ext cx="10607040" cy="256032"/>
          </a:xfrm>
          <a:prstGeom prst="rect">
            <a:avLst/>
          </a:prstGeom>
          <a:noFill/>
          <a:ln/>
        </p:spPr>
        <p:txBody>
          <a:bodyPr wrap="square" lIns="0" tIns="0" rIns="0" bIns="0" rtlCol="0" anchor="ctr"/>
          <a:lstStyle/>
          <a:p>
            <a:pPr indent="0" marL="0">
              <a:buNone/>
            </a:pPr>
            <a:r>
              <a:rPr lang="en-US" sz="900" dirty="0">
                <a:solidFill>
                  <a:srgbClr val="6E6558"/>
                </a:solidFill>
                <a:latin typeface="Yu Gothic" pitchFamily="34" charset="0"/>
                <a:ea typeface="Yu Gothic" pitchFamily="34" charset="-122"/>
                <a:cs typeface="Yu Gothic" pitchFamily="34" charset="-120"/>
              </a:rPr>
              <a:t>第8回　社内の知識を検索できるようにする</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第8回 社内の知識を検索できるようにする</dc:title>
  <dc:subject>PptxGenJS Presentation</dc:subject>
  <dc:creator>経営者のためのAI実装講座</dc:creator>
  <cp:lastModifiedBy>経営者のためのAI実装講座</cp:lastModifiedBy>
  <cp:revision>1</cp:revision>
  <dcterms:created xsi:type="dcterms:W3CDTF">2026-09-12T03:05:52Z</dcterms:created>
  <dcterms:modified xsi:type="dcterms:W3CDTF">2026-09-12T03:05:52Z</dcterms:modified>
</cp:coreProperties>
</file>